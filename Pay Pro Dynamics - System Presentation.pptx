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media/image5.svg" ContentType="image/svg+xml"/>
  <Override PartName="/ppt/media/image7.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Montserrat Ultra-Bold" charset="1" panose="00000900000000000000"/>
      <p:regular r:id="rId16"/>
    </p:embeddedFont>
    <p:embeddedFont>
      <p:font typeface="Montserrat" charset="1" panose="00000500000000000000"/>
      <p:regular r:id="rId17"/>
    </p:embeddedFont>
    <p:embeddedFont>
      <p:font typeface="Montserrat Bold" charset="1" panose="000008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font" Target="fonts/font16.fntdata"/><Relationship Id="rId17" Type="http://schemas.openxmlformats.org/officeDocument/2006/relationships/font" Target="fonts/font17.fntdata"/><Relationship Id="rId18" Type="http://schemas.openxmlformats.org/officeDocument/2006/relationships/font" Target="fonts/font1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6.png"/><Relationship Id="rId8" Type="http://schemas.openxmlformats.org/officeDocument/2006/relationships/image" Target="../media/image7.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8.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9.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10.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11.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12.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13.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14.png"/><Relationship Id="rId4" Type="http://schemas.openxmlformats.org/officeDocument/2006/relationships/image" Target="../media/image15.jpeg"/><Relationship Id="rId5"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6.png"/><Relationship Id="rId8" Type="http://schemas.openxmlformats.org/officeDocument/2006/relationships/image" Target="../media/image7.sv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txBody>
          <a:bodyPr/>
          <a:p/>
        </p:txBody>
      </p:sp>
      <p:sp>
        <p:nvSpPr>
          <p:cNvPr name="Freeform 3" id="3"/>
          <p:cNvSpPr/>
          <p:nvPr/>
        </p:nvSpPr>
        <p:spPr>
          <a:xfrm flipH="false" flipV="false" rot="0">
            <a:off x="-580528" y="5143500"/>
            <a:ext cx="6374432" cy="5431548"/>
          </a:xfrm>
          <a:custGeom>
            <a:avLst/>
            <a:gdLst/>
            <a:ahLst/>
            <a:cxnLst/>
            <a:rect r="r" b="b" t="t" l="l"/>
            <a:pathLst>
              <a:path h="5431548" w="6374432">
                <a:moveTo>
                  <a:pt x="0" y="0"/>
                </a:moveTo>
                <a:lnTo>
                  <a:pt x="6374432" y="0"/>
                </a:lnTo>
                <a:lnTo>
                  <a:pt x="6374432" y="5431548"/>
                </a:lnTo>
                <a:lnTo>
                  <a:pt x="0" y="54315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Freeform 4" id="4"/>
          <p:cNvSpPr/>
          <p:nvPr/>
        </p:nvSpPr>
        <p:spPr>
          <a:xfrm flipH="true" flipV="true" rot="0">
            <a:off x="12275902" y="-805572"/>
            <a:ext cx="6374432" cy="5431548"/>
          </a:xfrm>
          <a:custGeom>
            <a:avLst/>
            <a:gdLst/>
            <a:ahLst/>
            <a:cxnLst/>
            <a:rect r="r" b="b" t="t" l="l"/>
            <a:pathLst>
              <a:path h="5431548" w="6374432">
                <a:moveTo>
                  <a:pt x="6374432" y="5431548"/>
                </a:moveTo>
                <a:lnTo>
                  <a:pt x="0" y="5431548"/>
                </a:lnTo>
                <a:lnTo>
                  <a:pt x="0" y="0"/>
                </a:lnTo>
                <a:lnTo>
                  <a:pt x="6374432" y="0"/>
                </a:lnTo>
                <a:lnTo>
                  <a:pt x="6374432" y="5431548"/>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grpSp>
        <p:nvGrpSpPr>
          <p:cNvPr name="Group 5" id="5"/>
          <p:cNvGrpSpPr/>
          <p:nvPr/>
        </p:nvGrpSpPr>
        <p:grpSpPr>
          <a:xfrm rot="0">
            <a:off x="5013278" y="5786007"/>
            <a:ext cx="8261444" cy="772385"/>
            <a:chOff x="0" y="0"/>
            <a:chExt cx="1699886" cy="158927"/>
          </a:xfrm>
        </p:grpSpPr>
        <p:sp>
          <p:nvSpPr>
            <p:cNvPr name="Freeform 6" id="6"/>
            <p:cNvSpPr/>
            <p:nvPr/>
          </p:nvSpPr>
          <p:spPr>
            <a:xfrm flipH="false" flipV="false" rot="0">
              <a:off x="0" y="0"/>
              <a:ext cx="1699886" cy="158927"/>
            </a:xfrm>
            <a:custGeom>
              <a:avLst/>
              <a:gdLst/>
              <a:ahLst/>
              <a:cxnLst/>
              <a:rect r="r" b="b" t="t" l="l"/>
              <a:pathLst>
                <a:path h="158927" w="1699886">
                  <a:moveTo>
                    <a:pt x="73212" y="0"/>
                  </a:moveTo>
                  <a:lnTo>
                    <a:pt x="1626674" y="0"/>
                  </a:lnTo>
                  <a:cubicBezTo>
                    <a:pt x="1667107" y="0"/>
                    <a:pt x="1699886" y="32778"/>
                    <a:pt x="1699886" y="73212"/>
                  </a:cubicBezTo>
                  <a:lnTo>
                    <a:pt x="1699886" y="85715"/>
                  </a:lnTo>
                  <a:cubicBezTo>
                    <a:pt x="1699886" y="126149"/>
                    <a:pt x="1667107" y="158927"/>
                    <a:pt x="1626674" y="158927"/>
                  </a:cubicBezTo>
                  <a:lnTo>
                    <a:pt x="73212" y="158927"/>
                  </a:lnTo>
                  <a:cubicBezTo>
                    <a:pt x="32778" y="158927"/>
                    <a:pt x="0" y="126149"/>
                    <a:pt x="0" y="85715"/>
                  </a:cubicBezTo>
                  <a:lnTo>
                    <a:pt x="0" y="73212"/>
                  </a:lnTo>
                  <a:cubicBezTo>
                    <a:pt x="0" y="32778"/>
                    <a:pt x="32778" y="0"/>
                    <a:pt x="73212" y="0"/>
                  </a:cubicBezTo>
                  <a:close/>
                </a:path>
              </a:pathLst>
            </a:custGeom>
            <a:solidFill>
              <a:srgbClr val="16A34A"/>
            </a:solidFill>
          </p:spPr>
          <p:txBody>
            <a:bodyPr/>
            <a:p/>
          </p:txBody>
        </p:sp>
        <p:sp>
          <p:nvSpPr>
            <p:cNvPr name="TextBox 7" id="7"/>
            <p:cNvSpPr txBox="true"/>
            <p:nvPr/>
          </p:nvSpPr>
          <p:spPr>
            <a:xfrm>
              <a:off x="0" y="-38100"/>
              <a:ext cx="1699886" cy="197027"/>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true" rot="5400000">
            <a:off x="15923080" y="-1557401"/>
            <a:ext cx="3461576" cy="4114800"/>
          </a:xfrm>
          <a:custGeom>
            <a:avLst/>
            <a:gdLst/>
            <a:ahLst/>
            <a:cxnLst/>
            <a:rect r="r" b="b" t="t" l="l"/>
            <a:pathLst>
              <a:path h="4114800" w="3461576">
                <a:moveTo>
                  <a:pt x="3461576" y="4114800"/>
                </a:moveTo>
                <a:lnTo>
                  <a:pt x="0" y="4114800"/>
                </a:lnTo>
                <a:lnTo>
                  <a:pt x="0" y="0"/>
                </a:lnTo>
                <a:lnTo>
                  <a:pt x="3461576" y="0"/>
                </a:lnTo>
                <a:lnTo>
                  <a:pt x="3461576"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Freeform 9" id="9"/>
          <p:cNvSpPr/>
          <p:nvPr/>
        </p:nvSpPr>
        <p:spPr>
          <a:xfrm flipH="false" flipV="false" rot="5400000">
            <a:off x="-1076725" y="7532662"/>
            <a:ext cx="3461576" cy="4114800"/>
          </a:xfrm>
          <a:custGeom>
            <a:avLst/>
            <a:gdLst/>
            <a:ahLst/>
            <a:cxnLst/>
            <a:rect r="r" b="b" t="t" l="l"/>
            <a:pathLst>
              <a:path h="4114800" w="3461576">
                <a:moveTo>
                  <a:pt x="0" y="0"/>
                </a:moveTo>
                <a:lnTo>
                  <a:pt x="3461576" y="0"/>
                </a:lnTo>
                <a:lnTo>
                  <a:pt x="3461576"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TextBox 10" id="10"/>
          <p:cNvSpPr txBox="true"/>
          <p:nvPr/>
        </p:nvSpPr>
        <p:spPr>
          <a:xfrm rot="0">
            <a:off x="1786995" y="3966732"/>
            <a:ext cx="14714010" cy="1654307"/>
          </a:xfrm>
          <a:prstGeom prst="rect">
            <a:avLst/>
          </a:prstGeom>
        </p:spPr>
        <p:txBody>
          <a:bodyPr anchor="t" rtlCol="false" tIns="0" lIns="0" bIns="0" rIns="0">
            <a:spAutoFit/>
          </a:bodyPr>
          <a:lstStyle/>
          <a:p>
            <a:pPr algn="ctr">
              <a:lnSpc>
                <a:spcPts val="12417"/>
              </a:lnSpc>
            </a:pPr>
            <a:r>
              <a:rPr sz="7600" b="1">
                <a:solidFill>
                  <a:srgbClr val="14532D"/>
                </a:solidFill>
                <a:latin typeface="Montserrat Ultra-Bold"/>
              </a:rPr>
              <a:t>PAY PRO DYNAMICS</a:t>
            </a:r>
          </a:p>
        </p:txBody>
      </p:sp>
      <p:sp>
        <p:nvSpPr>
          <p:cNvPr name="TextBox 11" id="11"/>
          <p:cNvSpPr txBox="true"/>
          <p:nvPr/>
        </p:nvSpPr>
        <p:spPr>
          <a:xfrm rot="0">
            <a:off x="5368405" y="5775319"/>
            <a:ext cx="7551191" cy="646430"/>
          </a:xfrm>
          <a:prstGeom prst="rect">
            <a:avLst/>
          </a:prstGeom>
        </p:spPr>
        <p:txBody>
          <a:bodyPr anchor="t" rtlCol="false" tIns="0" lIns="0" bIns="0" rIns="0">
            <a:spAutoFit/>
          </a:bodyPr>
          <a:lstStyle/>
          <a:p>
            <a:pPr algn="ctr">
              <a:lnSpc>
                <a:spcPts val="5319"/>
              </a:lnSpc>
            </a:pPr>
            <a:r>
              <a:rPr sz="3000">
                <a:solidFill>
                  <a:srgbClr val="FFFFFF"/>
                </a:solidFill>
                <a:latin typeface="Montserrat"/>
              </a:rPr>
              <a:t>Employee Payroll Management System</a:t>
            </a:r>
          </a:p>
        </p:txBody>
      </p:sp>
      <p:sp>
        <p:nvSpPr>
          <p:cNvPr name="TextBox 12" id="12"/>
          <p:cNvSpPr txBox="true"/>
          <p:nvPr/>
        </p:nvSpPr>
        <p:spPr>
          <a:xfrm rot="0">
            <a:off x="5368405" y="8597887"/>
            <a:ext cx="7551191" cy="514337"/>
          </a:xfrm>
          <a:prstGeom prst="rect">
            <a:avLst/>
          </a:prstGeom>
        </p:spPr>
        <p:txBody>
          <a:bodyPr anchor="t" rtlCol="false" tIns="0" lIns="0" bIns="0" rIns="0">
            <a:spAutoFit/>
          </a:bodyPr>
          <a:lstStyle/>
          <a:p>
            <a:pPr algn="ctr">
              <a:lnSpc>
                <a:spcPts val="4200"/>
              </a:lnSpc>
            </a:pPr>
            <a:r>
              <a:rPr sz="3000">
                <a:solidFill>
                  <a:srgbClr val="14532D"/>
                </a:solidFill>
                <a:latin typeface="Montserrat"/>
              </a:rPr>
              <a:t>Smarter Payroll. Simpler Management.</a:t>
            </a:r>
          </a:p>
        </p:txBody>
      </p:sp>
      <p:sp>
        <p:nvSpPr>
          <p:cNvPr name="Freeform 13" id="13"/>
          <p:cNvSpPr/>
          <p:nvPr/>
        </p:nvSpPr>
        <p:spPr>
          <a:xfrm flipH="true" flipV="false" rot="0">
            <a:off x="14665939" y="6826231"/>
            <a:ext cx="5186723" cy="4114800"/>
          </a:xfrm>
          <a:custGeom>
            <a:avLst/>
            <a:gdLst/>
            <a:ahLst/>
            <a:cxnLst/>
            <a:rect r="r" b="b" t="t" l="l"/>
            <a:pathLst>
              <a:path h="4114800" w="5186723">
                <a:moveTo>
                  <a:pt x="5186722" y="0"/>
                </a:moveTo>
                <a:lnTo>
                  <a:pt x="0" y="0"/>
                </a:lnTo>
                <a:lnTo>
                  <a:pt x="0" y="4114800"/>
                </a:lnTo>
                <a:lnTo>
                  <a:pt x="5186722" y="4114800"/>
                </a:lnTo>
                <a:lnTo>
                  <a:pt x="5186722"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Freeform 14" id="14"/>
          <p:cNvSpPr/>
          <p:nvPr/>
        </p:nvSpPr>
        <p:spPr>
          <a:xfrm flipH="false" flipV="true" rot="0">
            <a:off x="-1939298" y="-147198"/>
            <a:ext cx="5186723" cy="4114800"/>
          </a:xfrm>
          <a:custGeom>
            <a:avLst/>
            <a:gdLst/>
            <a:ahLst/>
            <a:cxnLst/>
            <a:rect r="r" b="b" t="t" l="l"/>
            <a:pathLst>
              <a:path h="4114800" w="5186723">
                <a:moveTo>
                  <a:pt x="0" y="4114800"/>
                </a:moveTo>
                <a:lnTo>
                  <a:pt x="5186722" y="4114800"/>
                </a:lnTo>
                <a:lnTo>
                  <a:pt x="5186722" y="0"/>
                </a:lnTo>
                <a:lnTo>
                  <a:pt x="0" y="0"/>
                </a:lnTo>
                <a:lnTo>
                  <a:pt x="0" y="411480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txBody>
          <a:bodyPr/>
          <a:p/>
        </p:txBody>
      </p:sp>
      <p:sp>
        <p:nvSpPr>
          <p:cNvPr name="Freeform 3" id="3"/>
          <p:cNvSpPr/>
          <p:nvPr/>
        </p:nvSpPr>
        <p:spPr>
          <a:xfrm flipH="false" flipV="false" rot="0">
            <a:off x="-823010" y="-3477714"/>
            <a:ext cx="19934020" cy="8229600"/>
          </a:xfrm>
          <a:custGeom>
            <a:avLst/>
            <a:gdLst/>
            <a:ahLst/>
            <a:cxnLst/>
            <a:rect r="r" b="b" t="t" l="l"/>
            <a:pathLst>
              <a:path h="8229600" w="19934020">
                <a:moveTo>
                  <a:pt x="0" y="0"/>
                </a:moveTo>
                <a:lnTo>
                  <a:pt x="19934020" y="0"/>
                </a:lnTo>
                <a:lnTo>
                  <a:pt x="19934020" y="8229600"/>
                </a:lnTo>
                <a:lnTo>
                  <a:pt x="0" y="8229600"/>
                </a:lnTo>
                <a:lnTo>
                  <a:pt x="0" y="0"/>
                </a:lnTo>
                <a:close/>
              </a:path>
            </a:pathLst>
          </a:custGeom>
          <a:blipFill>
            <a:blip r:embed="rId3"/>
            <a:stretch>
              <a:fillRect l="0" t="-30842" r="0" b="-30842"/>
            </a:stretch>
          </a:blipFill>
        </p:spPr>
        <p:txBody>
          <a:bodyPr/>
          <a:p/>
        </p:txBody>
      </p:sp>
      <p:grpSp>
        <p:nvGrpSpPr>
          <p:cNvPr name="Group 4" id="4"/>
          <p:cNvGrpSpPr/>
          <p:nvPr/>
        </p:nvGrpSpPr>
        <p:grpSpPr>
          <a:xfrm rot="0">
            <a:off x="1028700" y="3377328"/>
            <a:ext cx="16230600" cy="5880972"/>
            <a:chOff x="0" y="0"/>
            <a:chExt cx="3339630" cy="1210077"/>
          </a:xfrm>
        </p:grpSpPr>
        <p:sp>
          <p:nvSpPr>
            <p:cNvPr name="Freeform 5" id="5"/>
            <p:cNvSpPr/>
            <p:nvPr/>
          </p:nvSpPr>
          <p:spPr>
            <a:xfrm flipH="false" flipV="false" rot="0">
              <a:off x="0" y="0"/>
              <a:ext cx="3339629" cy="1210077"/>
            </a:xfrm>
            <a:custGeom>
              <a:avLst/>
              <a:gdLst/>
              <a:ahLst/>
              <a:cxnLst/>
              <a:rect r="r" b="b" t="t" l="l"/>
              <a:pathLst>
                <a:path h="1210077" w="3339629">
                  <a:moveTo>
                    <a:pt x="0" y="0"/>
                  </a:moveTo>
                  <a:lnTo>
                    <a:pt x="3339629" y="0"/>
                  </a:lnTo>
                  <a:lnTo>
                    <a:pt x="3339629" y="1210077"/>
                  </a:lnTo>
                  <a:lnTo>
                    <a:pt x="0" y="1210077"/>
                  </a:lnTo>
                  <a:close/>
                </a:path>
              </a:pathLst>
            </a:custGeom>
            <a:solidFill>
              <a:srgbClr val="14532D"/>
            </a:solidFill>
          </p:spPr>
          <p:txBody>
            <a:bodyPr/>
            <a:p/>
          </p:txBody>
        </p:sp>
        <p:sp>
          <p:nvSpPr>
            <p:cNvPr name="TextBox 6" id="6"/>
            <p:cNvSpPr txBox="true"/>
            <p:nvPr/>
          </p:nvSpPr>
          <p:spPr>
            <a:xfrm>
              <a:off x="0" y="-38100"/>
              <a:ext cx="3339630" cy="1248177"/>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2523701" y="5753089"/>
            <a:ext cx="13240598" cy="2836544"/>
          </a:xfrm>
          <a:prstGeom prst="rect">
            <a:avLst/>
          </a:prstGeom>
        </p:spPr>
        <p:txBody>
          <a:bodyPr anchor="t" rtlCol="false" tIns="0" lIns="0" bIns="0" rIns="0">
            <a:spAutoFit/>
          </a:bodyPr>
          <a:lstStyle/>
          <a:p>
            <a:pPr algn="just">
              <a:lnSpc>
                <a:spcPts val="3780"/>
              </a:lnSpc>
            </a:pPr>
            <a:r>
              <a:rPr sz="2700">
                <a:solidFill>
                  <a:srgbClr val="FFFFFF"/>
                </a:solidFill>
                <a:latin typeface="Montserrat"/>
              </a:rPr>
              <a:t>Pay Pro Dynamics is an employee payroll system built with PHP and MySQL on XAMPP. It keeps employee records, attendance, deductions, and payroll in one place, so every payslip traces back to real data. This presentation covers the design, the main modules, and how payroll is computed and protected.</a:t>
            </a:r>
          </a:p>
        </p:txBody>
      </p:sp>
      <p:sp>
        <p:nvSpPr>
          <p:cNvPr name="TextBox 8" id="8"/>
          <p:cNvSpPr txBox="true"/>
          <p:nvPr/>
        </p:nvSpPr>
        <p:spPr>
          <a:xfrm rot="0">
            <a:off x="2523701" y="4226969"/>
            <a:ext cx="13240598" cy="1260362"/>
          </a:xfrm>
          <a:prstGeom prst="rect">
            <a:avLst/>
          </a:prstGeom>
        </p:spPr>
        <p:txBody>
          <a:bodyPr anchor="t" rtlCol="false" tIns="0" lIns="0" bIns="0" rIns="0">
            <a:spAutoFit/>
          </a:bodyPr>
          <a:lstStyle/>
          <a:p>
            <a:pPr algn="ctr">
              <a:lnSpc>
                <a:spcPts val="9496"/>
              </a:lnSpc>
            </a:pPr>
            <a:r>
              <a:rPr sz="9496" b="1">
                <a:solidFill>
                  <a:srgbClr val="FFFFFF"/>
                </a:solidFill>
                <a:latin typeface="Montserrat Ultra-Bold"/>
              </a:rPr>
              <a:t>OVERVIEW</a:t>
            </a:r>
          </a:p>
        </p:txBody>
      </p:sp>
      <p:sp>
        <p:nvSpPr>
          <p:cNvPr name="TextBox 9" id="9"/>
          <p:cNvSpPr txBox="true"/>
          <p:nvPr/>
        </p:nvSpPr>
        <p:spPr>
          <a:xfrm rot="0">
            <a:off x="15764299" y="741861"/>
            <a:ext cx="1473411" cy="776618"/>
          </a:xfrm>
          <a:prstGeom prst="rect">
            <a:avLst/>
          </a:prstGeom>
        </p:spPr>
        <p:txBody>
          <a:bodyPr anchor="t" rtlCol="false" tIns="0" lIns="0" bIns="0" rIns="0">
            <a:spAutoFit/>
          </a:bodyPr>
          <a:lstStyle/>
          <a:p>
            <a:pPr algn="ctr">
              <a:lnSpc>
                <a:spcPts val="5826"/>
              </a:lnSpc>
            </a:pPr>
            <a:r>
              <a:rPr lang="en-US" b="true" sz="5826">
                <a:solidFill>
                  <a:srgbClr val="FFFFFF"/>
                </a:solidFill>
                <a:latin typeface="Montserrat Bold"/>
                <a:ea typeface="Montserrat Bold"/>
                <a:cs typeface="Montserrat Bold"/>
                <a:sym typeface="Montserrat Bold"/>
              </a:rPr>
              <a:t>01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txBody>
          <a:bodyPr/>
          <a:p/>
        </p:txBody>
      </p:sp>
      <p:sp>
        <p:nvSpPr>
          <p:cNvPr name="Freeform 3" id="3"/>
          <p:cNvSpPr/>
          <p:nvPr/>
        </p:nvSpPr>
        <p:spPr>
          <a:xfrm flipH="false" flipV="false" rot="0">
            <a:off x="1028700" y="1028700"/>
            <a:ext cx="6043342" cy="8229600"/>
          </a:xfrm>
          <a:custGeom>
            <a:avLst/>
            <a:gdLst/>
            <a:ahLst/>
            <a:cxnLst/>
            <a:rect r="r" b="b" t="t" l="l"/>
            <a:pathLst>
              <a:path h="8229600" w="6043342">
                <a:moveTo>
                  <a:pt x="0" y="0"/>
                </a:moveTo>
                <a:lnTo>
                  <a:pt x="6043342" y="0"/>
                </a:lnTo>
                <a:lnTo>
                  <a:pt x="6043342" y="8229600"/>
                </a:lnTo>
                <a:lnTo>
                  <a:pt x="0" y="8229600"/>
                </a:lnTo>
                <a:lnTo>
                  <a:pt x="0" y="0"/>
                </a:lnTo>
                <a:close/>
              </a:path>
            </a:pathLst>
          </a:custGeom>
          <a:blipFill>
            <a:blip r:embed="rId3"/>
            <a:stretch>
              <a:fillRect l="-22919" t="0" r="-22919" b="0"/>
            </a:stretch>
          </a:blipFill>
        </p:spPr>
        <p:txBody>
          <a:bodyPr/>
          <a:p/>
        </p:txBody>
      </p:sp>
      <p:sp>
        <p:nvSpPr>
          <p:cNvPr name="TextBox 4" id="4"/>
          <p:cNvSpPr txBox="true"/>
          <p:nvPr/>
        </p:nvSpPr>
        <p:spPr>
          <a:xfrm rot="0">
            <a:off x="8086349" y="3830162"/>
            <a:ext cx="9172951" cy="4265294"/>
          </a:xfrm>
          <a:prstGeom prst="rect">
            <a:avLst/>
          </a:prstGeom>
        </p:spPr>
        <p:txBody>
          <a:bodyPr anchor="t" rtlCol="false" tIns="0" lIns="0" bIns="0" rIns="0">
            <a:spAutoFit/>
          </a:bodyPr>
          <a:lstStyle/>
          <a:p>
            <a:pPr algn="just">
              <a:lnSpc>
                <a:spcPts val="3780"/>
              </a:lnSpc>
            </a:pPr>
            <a:r>
              <a:rPr sz="2700">
                <a:solidFill>
                  <a:srgbClr val="14532D"/>
                </a:solidFill>
                <a:latin typeface="Montserrat"/>
              </a:rPr>
              <a:t>The idea came from a common problem: employee data in one file, attendance in another, and pay computed by hand. That setup makes mistakes hard to find. The system fixes this by linking each employee to their department, position, attendance, deductions, and pay history.</a:t>
            </a:r>
          </a:p>
        </p:txBody>
      </p:sp>
      <p:sp>
        <p:nvSpPr>
          <p:cNvPr name="TextBox 5" id="5"/>
          <p:cNvSpPr txBox="true"/>
          <p:nvPr/>
        </p:nvSpPr>
        <p:spPr>
          <a:xfrm rot="0">
            <a:off x="8086349" y="2353469"/>
            <a:ext cx="9172951" cy="1119633"/>
          </a:xfrm>
          <a:prstGeom prst="rect">
            <a:avLst/>
          </a:prstGeom>
        </p:spPr>
        <p:txBody>
          <a:bodyPr anchor="t" rtlCol="false" tIns="0" lIns="0" bIns="0" rIns="0">
            <a:spAutoFit/>
          </a:bodyPr>
          <a:lstStyle/>
          <a:p>
            <a:pPr algn="l">
              <a:lnSpc>
                <a:spcPts val="8456"/>
              </a:lnSpc>
            </a:pPr>
            <a:r>
              <a:rPr sz="8456" b="1">
                <a:solidFill>
                  <a:srgbClr val="14532D"/>
                </a:solidFill>
                <a:latin typeface="Montserrat Ultra-Bold"/>
              </a:rPr>
              <a:t>BACKGROUND</a:t>
            </a:r>
          </a:p>
        </p:txBody>
      </p:sp>
      <p:sp>
        <p:nvSpPr>
          <p:cNvPr name="TextBox 6" id="6"/>
          <p:cNvSpPr txBox="true"/>
          <p:nvPr/>
        </p:nvSpPr>
        <p:spPr>
          <a:xfrm rot="0">
            <a:off x="15764299" y="741861"/>
            <a:ext cx="1473411" cy="776618"/>
          </a:xfrm>
          <a:prstGeom prst="rect">
            <a:avLst/>
          </a:prstGeom>
        </p:spPr>
        <p:txBody>
          <a:bodyPr anchor="t" rtlCol="false" tIns="0" lIns="0" bIns="0" rIns="0">
            <a:spAutoFit/>
          </a:bodyPr>
          <a:lstStyle/>
          <a:p>
            <a:pPr algn="ctr">
              <a:lnSpc>
                <a:spcPts val="5826"/>
              </a:lnSpc>
            </a:pPr>
            <a:r>
              <a:rPr lang="en-US" b="true" sz="5826">
                <a:solidFill>
                  <a:srgbClr val="16A34A"/>
                </a:solidFill>
                <a:latin typeface="Montserrat Bold"/>
                <a:ea typeface="Montserrat Bold"/>
                <a:cs typeface="Montserrat Bold"/>
                <a:sym typeface="Montserrat Bold"/>
              </a:rPr>
              <a:t>02</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txBody>
          <a:bodyPr/>
          <a:p/>
        </p:txBody>
      </p:sp>
      <p:sp>
        <p:nvSpPr>
          <p:cNvPr name="Freeform 3" id="3"/>
          <p:cNvSpPr/>
          <p:nvPr/>
        </p:nvSpPr>
        <p:spPr>
          <a:xfrm flipH="false" flipV="false" rot="0">
            <a:off x="1028700" y="1028700"/>
            <a:ext cx="6043342" cy="8229600"/>
          </a:xfrm>
          <a:custGeom>
            <a:avLst/>
            <a:gdLst/>
            <a:ahLst/>
            <a:cxnLst/>
            <a:rect r="r" b="b" t="t" l="l"/>
            <a:pathLst>
              <a:path h="8229600" w="6043342">
                <a:moveTo>
                  <a:pt x="0" y="0"/>
                </a:moveTo>
                <a:lnTo>
                  <a:pt x="6043342" y="0"/>
                </a:lnTo>
                <a:lnTo>
                  <a:pt x="6043342" y="8229600"/>
                </a:lnTo>
                <a:lnTo>
                  <a:pt x="0" y="8229600"/>
                </a:lnTo>
                <a:lnTo>
                  <a:pt x="0" y="0"/>
                </a:lnTo>
                <a:close/>
              </a:path>
            </a:pathLst>
          </a:custGeom>
          <a:blipFill>
            <a:blip r:embed="rId3"/>
            <a:stretch>
              <a:fillRect l="-52196" t="0" r="-52196" b="0"/>
            </a:stretch>
          </a:blipFill>
        </p:spPr>
        <p:txBody>
          <a:bodyPr/>
          <a:p/>
        </p:txBody>
      </p:sp>
      <p:sp>
        <p:nvSpPr>
          <p:cNvPr name="TextBox 4" id="4"/>
          <p:cNvSpPr txBox="true"/>
          <p:nvPr/>
        </p:nvSpPr>
        <p:spPr>
          <a:xfrm rot="0">
            <a:off x="8061659" y="4766149"/>
            <a:ext cx="9172951" cy="1445004"/>
          </a:xfrm>
          <a:prstGeom prst="rect">
            <a:avLst/>
          </a:prstGeom>
        </p:spPr>
        <p:txBody>
          <a:bodyPr anchor="t" rtlCol="false" tIns="0" lIns="0" bIns="0" rIns="0">
            <a:spAutoFit/>
          </a:bodyPr>
          <a:lstStyle/>
          <a:p>
            <a:pPr algn="just">
              <a:lnSpc>
                <a:spcPts val="3827"/>
              </a:lnSpc>
            </a:pPr>
            <a:r>
              <a:rPr sz="2733">
                <a:solidFill>
                  <a:srgbClr val="14532D"/>
                </a:solidFill>
                <a:latin typeface="Montserrat"/>
              </a:rPr>
              <a:t>Three parts work together: the pages staff click through, the PHP code that checks and computes on the server, and the MySQL database where everything is stored.</a:t>
            </a:r>
          </a:p>
        </p:txBody>
      </p:sp>
      <p:sp>
        <p:nvSpPr>
          <p:cNvPr name="TextBox 5" id="5"/>
          <p:cNvSpPr txBox="true"/>
          <p:nvPr/>
        </p:nvSpPr>
        <p:spPr>
          <a:xfrm rot="0">
            <a:off x="8061659" y="2154016"/>
            <a:ext cx="9197641" cy="1119633"/>
          </a:xfrm>
          <a:prstGeom prst="rect">
            <a:avLst/>
          </a:prstGeom>
        </p:spPr>
        <p:txBody>
          <a:bodyPr anchor="t" rtlCol="false" tIns="0" lIns="0" bIns="0" rIns="0">
            <a:spAutoFit/>
          </a:bodyPr>
          <a:lstStyle/>
          <a:p>
            <a:pPr algn="l">
              <a:lnSpc>
                <a:spcPts val="8456"/>
              </a:lnSpc>
            </a:pPr>
            <a:r>
              <a:rPr lang="en-US" sz="8456" b="true">
                <a:solidFill>
                  <a:srgbClr val="14532D"/>
                </a:solidFill>
                <a:latin typeface="Montserrat Ultra-Bold"/>
                <a:ea typeface="Montserrat Ultra-Bold"/>
                <a:cs typeface="Montserrat Ultra-Bold"/>
                <a:sym typeface="Montserrat Ultra-Bold"/>
              </a:rPr>
              <a:t>ARCHI</a:t>
            </a:r>
            <a:r>
              <a:rPr lang="en-US" b="true" sz="8456">
                <a:solidFill>
                  <a:srgbClr val="14532D"/>
                </a:solidFill>
                <a:latin typeface="Montserrat Ultra-Bold"/>
                <a:ea typeface="Montserrat Ultra-Bold"/>
                <a:cs typeface="Montserrat Ultra-Bold"/>
                <a:sym typeface="Montserrat Ultra-Bold"/>
              </a:rPr>
              <a:t>TECTURE</a:t>
            </a:r>
          </a:p>
        </p:txBody>
      </p:sp>
      <p:grpSp>
        <p:nvGrpSpPr>
          <p:cNvPr name="Group 6" id="6"/>
          <p:cNvGrpSpPr/>
          <p:nvPr/>
        </p:nvGrpSpPr>
        <p:grpSpPr>
          <a:xfrm rot="0">
            <a:off x="8061659" y="3411268"/>
            <a:ext cx="9197641" cy="1231494"/>
            <a:chOff x="0" y="0"/>
            <a:chExt cx="2282038" cy="305547"/>
          </a:xfrm>
        </p:grpSpPr>
        <p:sp>
          <p:nvSpPr>
            <p:cNvPr name="Freeform 7" id="7"/>
            <p:cNvSpPr/>
            <p:nvPr/>
          </p:nvSpPr>
          <p:spPr>
            <a:xfrm flipH="false" flipV="false" rot="0">
              <a:off x="0" y="0"/>
              <a:ext cx="2282038" cy="305547"/>
            </a:xfrm>
            <a:custGeom>
              <a:avLst/>
              <a:gdLst/>
              <a:ahLst/>
              <a:cxnLst/>
              <a:rect r="r" b="b" t="t" l="l"/>
              <a:pathLst>
                <a:path h="305547" w="2282038">
                  <a:moveTo>
                    <a:pt x="0" y="0"/>
                  </a:moveTo>
                  <a:lnTo>
                    <a:pt x="2282038" y="0"/>
                  </a:lnTo>
                  <a:lnTo>
                    <a:pt x="2282038" y="305547"/>
                  </a:lnTo>
                  <a:lnTo>
                    <a:pt x="0" y="305547"/>
                  </a:lnTo>
                  <a:close/>
                </a:path>
              </a:pathLst>
            </a:custGeom>
            <a:solidFill>
              <a:srgbClr val="14532D"/>
            </a:solidFill>
          </p:spPr>
          <p:txBody>
            <a:bodyPr/>
            <a:p/>
          </p:txBody>
        </p:sp>
        <p:sp>
          <p:nvSpPr>
            <p:cNvPr name="TextBox 8" id="8"/>
            <p:cNvSpPr txBox="true"/>
            <p:nvPr/>
          </p:nvSpPr>
          <p:spPr>
            <a:xfrm>
              <a:off x="0" y="-38100"/>
              <a:ext cx="2282038" cy="343647"/>
            </a:xfrm>
            <a:prstGeom prst="rect">
              <a:avLst/>
            </a:prstGeom>
          </p:spPr>
          <p:txBody>
            <a:bodyPr anchor="ctr" rtlCol="false" tIns="42129" lIns="42129" bIns="42129" rIns="42129"/>
            <a:lstStyle/>
            <a:p>
              <a:pPr algn="ctr">
                <a:lnSpc>
                  <a:spcPts val="2659"/>
                </a:lnSpc>
              </a:pPr>
            </a:p>
          </p:txBody>
        </p:sp>
      </p:grpSp>
      <p:sp>
        <p:nvSpPr>
          <p:cNvPr name="TextBox 9" id="9"/>
          <p:cNvSpPr txBox="true"/>
          <p:nvPr/>
        </p:nvSpPr>
        <p:spPr>
          <a:xfrm rot="0">
            <a:off x="8061659" y="3663188"/>
            <a:ext cx="9172951" cy="846076"/>
          </a:xfrm>
          <a:prstGeom prst="rect">
            <a:avLst/>
          </a:prstGeom>
        </p:spPr>
        <p:txBody>
          <a:bodyPr anchor="t" rtlCol="false" tIns="0" lIns="0" bIns="0" rIns="0">
            <a:spAutoFit/>
          </a:bodyPr>
          <a:lstStyle/>
          <a:p>
            <a:pPr algn="ctr">
              <a:lnSpc>
                <a:spcPts val="6309"/>
              </a:lnSpc>
            </a:pPr>
            <a:r>
              <a:rPr sz="6309" b="1">
                <a:solidFill>
                  <a:srgbClr val="FFFFFF"/>
                </a:solidFill>
                <a:latin typeface="Montserrat Ultra-Bold"/>
              </a:rPr>
              <a:t>HOW IT IS BUILT</a:t>
            </a:r>
          </a:p>
        </p:txBody>
      </p:sp>
      <p:grpSp>
        <p:nvGrpSpPr>
          <p:cNvPr name="Group 10" id="10"/>
          <p:cNvGrpSpPr/>
          <p:nvPr/>
        </p:nvGrpSpPr>
        <p:grpSpPr>
          <a:xfrm rot="0">
            <a:off x="11284513" y="6664461"/>
            <a:ext cx="2748902" cy="2593839"/>
            <a:chOff x="0" y="0"/>
            <a:chExt cx="682033" cy="643561"/>
          </a:xfrm>
        </p:grpSpPr>
        <p:sp>
          <p:nvSpPr>
            <p:cNvPr name="Freeform 11" id="11"/>
            <p:cNvSpPr/>
            <p:nvPr/>
          </p:nvSpPr>
          <p:spPr>
            <a:xfrm flipH="false" flipV="false" rot="0">
              <a:off x="0" y="0"/>
              <a:ext cx="682033" cy="643561"/>
            </a:xfrm>
            <a:custGeom>
              <a:avLst/>
              <a:gdLst/>
              <a:ahLst/>
              <a:cxnLst/>
              <a:rect r="r" b="b" t="t" l="l"/>
              <a:pathLst>
                <a:path h="643561" w="682033">
                  <a:moveTo>
                    <a:pt x="0" y="0"/>
                  </a:moveTo>
                  <a:lnTo>
                    <a:pt x="682033" y="0"/>
                  </a:lnTo>
                  <a:lnTo>
                    <a:pt x="682033" y="643561"/>
                  </a:lnTo>
                  <a:lnTo>
                    <a:pt x="0" y="643561"/>
                  </a:lnTo>
                  <a:close/>
                </a:path>
              </a:pathLst>
            </a:custGeom>
            <a:solidFill>
              <a:srgbClr val="16A34A"/>
            </a:solidFill>
          </p:spPr>
          <p:txBody>
            <a:bodyPr/>
            <a:p/>
          </p:txBody>
        </p:sp>
        <p:sp>
          <p:nvSpPr>
            <p:cNvPr name="TextBox 12" id="12"/>
            <p:cNvSpPr txBox="true"/>
            <p:nvPr/>
          </p:nvSpPr>
          <p:spPr>
            <a:xfrm>
              <a:off x="0" y="-38100"/>
              <a:ext cx="682033" cy="681661"/>
            </a:xfrm>
            <a:prstGeom prst="rect">
              <a:avLst/>
            </a:prstGeom>
          </p:spPr>
          <p:txBody>
            <a:bodyPr anchor="ctr" rtlCol="false" tIns="42129" lIns="42129" bIns="42129" rIns="42129"/>
            <a:lstStyle/>
            <a:p>
              <a:pPr algn="ctr">
                <a:lnSpc>
                  <a:spcPts val="2659"/>
                </a:lnSpc>
              </a:pPr>
            </a:p>
          </p:txBody>
        </p:sp>
      </p:grpSp>
      <p:sp>
        <p:nvSpPr>
          <p:cNvPr name="TextBox 13" id="13"/>
          <p:cNvSpPr txBox="true"/>
          <p:nvPr/>
        </p:nvSpPr>
        <p:spPr>
          <a:xfrm rot="0">
            <a:off x="12197235" y="7041794"/>
            <a:ext cx="923458" cy="629517"/>
          </a:xfrm>
          <a:prstGeom prst="rect">
            <a:avLst/>
          </a:prstGeom>
        </p:spPr>
        <p:txBody>
          <a:bodyPr anchor="t" rtlCol="false" tIns="0" lIns="0" bIns="0" rIns="0">
            <a:spAutoFit/>
          </a:bodyPr>
          <a:lstStyle/>
          <a:p>
            <a:pPr algn="ctr">
              <a:lnSpc>
                <a:spcPts val="4761"/>
              </a:lnSpc>
            </a:pPr>
            <a:r>
              <a:rPr lang="en-US" b="true" sz="4761">
                <a:solidFill>
                  <a:srgbClr val="FFFFFF"/>
                </a:solidFill>
                <a:latin typeface="Montserrat Ultra-Bold"/>
                <a:ea typeface="Montserrat Ultra-Bold"/>
                <a:cs typeface="Montserrat Ultra-Bold"/>
                <a:sym typeface="Montserrat Ultra-Bold"/>
              </a:rPr>
              <a:t>2</a:t>
            </a:r>
          </a:p>
        </p:txBody>
      </p:sp>
      <p:sp>
        <p:nvSpPr>
          <p:cNvPr name="TextBox 14" id="14"/>
          <p:cNvSpPr txBox="true"/>
          <p:nvPr/>
        </p:nvSpPr>
        <p:spPr>
          <a:xfrm rot="0">
            <a:off x="11615682" y="7652261"/>
            <a:ext cx="2086564" cy="1323955"/>
          </a:xfrm>
          <a:prstGeom prst="rect">
            <a:avLst/>
          </a:prstGeom>
        </p:spPr>
        <p:txBody>
          <a:bodyPr anchor="t" rtlCol="false" tIns="0" lIns="0" bIns="0" rIns="0">
            <a:spAutoFit/>
          </a:bodyPr>
          <a:lstStyle/>
          <a:p>
            <a:pPr algn="ctr">
              <a:lnSpc>
                <a:spcPts val="1766"/>
              </a:lnSpc>
            </a:pPr>
            <a:r>
              <a:rPr sz="1261">
                <a:solidFill>
                  <a:srgbClr val="FFFFFF"/>
                </a:solidFill>
                <a:latin typeface="Montserrat"/>
              </a:rPr>
              <a:t>PHP on XAMPP does the real work. It checks logins and roles, hashes passwords, and computes final pay before saving.</a:t>
            </a:r>
          </a:p>
        </p:txBody>
      </p:sp>
      <p:grpSp>
        <p:nvGrpSpPr>
          <p:cNvPr name="Group 15" id="15"/>
          <p:cNvGrpSpPr/>
          <p:nvPr/>
        </p:nvGrpSpPr>
        <p:grpSpPr>
          <a:xfrm rot="0">
            <a:off x="14510398" y="6664461"/>
            <a:ext cx="2748902" cy="2593839"/>
            <a:chOff x="0" y="0"/>
            <a:chExt cx="682033" cy="643561"/>
          </a:xfrm>
        </p:grpSpPr>
        <p:sp>
          <p:nvSpPr>
            <p:cNvPr name="Freeform 16" id="16"/>
            <p:cNvSpPr/>
            <p:nvPr/>
          </p:nvSpPr>
          <p:spPr>
            <a:xfrm flipH="false" flipV="false" rot="0">
              <a:off x="0" y="0"/>
              <a:ext cx="682033" cy="643561"/>
            </a:xfrm>
            <a:custGeom>
              <a:avLst/>
              <a:gdLst/>
              <a:ahLst/>
              <a:cxnLst/>
              <a:rect r="r" b="b" t="t" l="l"/>
              <a:pathLst>
                <a:path h="643561" w="682033">
                  <a:moveTo>
                    <a:pt x="0" y="0"/>
                  </a:moveTo>
                  <a:lnTo>
                    <a:pt x="682033" y="0"/>
                  </a:lnTo>
                  <a:lnTo>
                    <a:pt x="682033" y="643561"/>
                  </a:lnTo>
                  <a:lnTo>
                    <a:pt x="0" y="643561"/>
                  </a:lnTo>
                  <a:close/>
                </a:path>
              </a:pathLst>
            </a:custGeom>
            <a:solidFill>
              <a:srgbClr val="14532D"/>
            </a:solidFill>
          </p:spPr>
          <p:txBody>
            <a:bodyPr/>
            <a:p/>
          </p:txBody>
        </p:sp>
        <p:sp>
          <p:nvSpPr>
            <p:cNvPr name="TextBox 17" id="17"/>
            <p:cNvSpPr txBox="true"/>
            <p:nvPr/>
          </p:nvSpPr>
          <p:spPr>
            <a:xfrm>
              <a:off x="0" y="-38100"/>
              <a:ext cx="682033" cy="681661"/>
            </a:xfrm>
            <a:prstGeom prst="rect">
              <a:avLst/>
            </a:prstGeom>
          </p:spPr>
          <p:txBody>
            <a:bodyPr anchor="ctr" rtlCol="false" tIns="42129" lIns="42129" bIns="42129" rIns="42129"/>
            <a:lstStyle/>
            <a:p>
              <a:pPr algn="ctr">
                <a:lnSpc>
                  <a:spcPts val="2659"/>
                </a:lnSpc>
              </a:pPr>
            </a:p>
          </p:txBody>
        </p:sp>
      </p:grpSp>
      <p:sp>
        <p:nvSpPr>
          <p:cNvPr name="TextBox 18" id="18"/>
          <p:cNvSpPr txBox="true"/>
          <p:nvPr/>
        </p:nvSpPr>
        <p:spPr>
          <a:xfrm rot="0">
            <a:off x="15423120" y="7041794"/>
            <a:ext cx="923458" cy="629517"/>
          </a:xfrm>
          <a:prstGeom prst="rect">
            <a:avLst/>
          </a:prstGeom>
        </p:spPr>
        <p:txBody>
          <a:bodyPr anchor="t" rtlCol="false" tIns="0" lIns="0" bIns="0" rIns="0">
            <a:spAutoFit/>
          </a:bodyPr>
          <a:lstStyle/>
          <a:p>
            <a:pPr algn="ctr">
              <a:lnSpc>
                <a:spcPts val="4761"/>
              </a:lnSpc>
            </a:pPr>
            <a:r>
              <a:rPr lang="en-US" b="true" sz="4761">
                <a:solidFill>
                  <a:srgbClr val="FFFFFF"/>
                </a:solidFill>
                <a:latin typeface="Montserrat Ultra-Bold"/>
                <a:ea typeface="Montserrat Ultra-Bold"/>
                <a:cs typeface="Montserrat Ultra-Bold"/>
                <a:sym typeface="Montserrat Ultra-Bold"/>
              </a:rPr>
              <a:t>3</a:t>
            </a:r>
          </a:p>
        </p:txBody>
      </p:sp>
      <p:sp>
        <p:nvSpPr>
          <p:cNvPr name="TextBox 19" id="19"/>
          <p:cNvSpPr txBox="true"/>
          <p:nvPr/>
        </p:nvSpPr>
        <p:spPr>
          <a:xfrm rot="0">
            <a:off x="14841567" y="7652261"/>
            <a:ext cx="2086564" cy="1323955"/>
          </a:xfrm>
          <a:prstGeom prst="rect">
            <a:avLst/>
          </a:prstGeom>
        </p:spPr>
        <p:txBody>
          <a:bodyPr anchor="t" rtlCol="false" tIns="0" lIns="0" bIns="0" rIns="0">
            <a:spAutoFit/>
          </a:bodyPr>
          <a:lstStyle/>
          <a:p>
            <a:pPr algn="ctr">
              <a:lnSpc>
                <a:spcPts val="1766"/>
              </a:lnSpc>
            </a:pPr>
            <a:r>
              <a:rPr sz="1261">
                <a:solidFill>
                  <a:srgbClr val="FFFFFF"/>
                </a:solidFill>
                <a:latin typeface="Montserrat"/>
              </a:rPr>
              <a:t>MySQL stores eleven linked tables. Keys keep records matched, money uses exact decimals, and a log tracks activity.</a:t>
            </a:r>
          </a:p>
        </p:txBody>
      </p:sp>
      <p:grpSp>
        <p:nvGrpSpPr>
          <p:cNvPr name="Group 20" id="20"/>
          <p:cNvGrpSpPr/>
          <p:nvPr/>
        </p:nvGrpSpPr>
        <p:grpSpPr>
          <a:xfrm rot="0">
            <a:off x="8061659" y="6664461"/>
            <a:ext cx="2748902" cy="2593839"/>
            <a:chOff x="0" y="0"/>
            <a:chExt cx="682033" cy="643561"/>
          </a:xfrm>
        </p:grpSpPr>
        <p:sp>
          <p:nvSpPr>
            <p:cNvPr name="Freeform 21" id="21"/>
            <p:cNvSpPr/>
            <p:nvPr/>
          </p:nvSpPr>
          <p:spPr>
            <a:xfrm flipH="false" flipV="false" rot="0">
              <a:off x="0" y="0"/>
              <a:ext cx="682033" cy="643561"/>
            </a:xfrm>
            <a:custGeom>
              <a:avLst/>
              <a:gdLst/>
              <a:ahLst/>
              <a:cxnLst/>
              <a:rect r="r" b="b" t="t" l="l"/>
              <a:pathLst>
                <a:path h="643561" w="682033">
                  <a:moveTo>
                    <a:pt x="0" y="0"/>
                  </a:moveTo>
                  <a:lnTo>
                    <a:pt x="682033" y="0"/>
                  </a:lnTo>
                  <a:lnTo>
                    <a:pt x="682033" y="643561"/>
                  </a:lnTo>
                  <a:lnTo>
                    <a:pt x="0" y="643561"/>
                  </a:lnTo>
                  <a:close/>
                </a:path>
              </a:pathLst>
            </a:custGeom>
            <a:solidFill>
              <a:srgbClr val="16A34A"/>
            </a:solidFill>
          </p:spPr>
          <p:txBody>
            <a:bodyPr/>
            <a:p/>
          </p:txBody>
        </p:sp>
        <p:sp>
          <p:nvSpPr>
            <p:cNvPr name="TextBox 22" id="22"/>
            <p:cNvSpPr txBox="true"/>
            <p:nvPr/>
          </p:nvSpPr>
          <p:spPr>
            <a:xfrm>
              <a:off x="0" y="-38100"/>
              <a:ext cx="682033" cy="681661"/>
            </a:xfrm>
            <a:prstGeom prst="rect">
              <a:avLst/>
            </a:prstGeom>
          </p:spPr>
          <p:txBody>
            <a:bodyPr anchor="ctr" rtlCol="false" tIns="42129" lIns="42129" bIns="42129" rIns="42129"/>
            <a:lstStyle/>
            <a:p>
              <a:pPr algn="ctr">
                <a:lnSpc>
                  <a:spcPts val="2659"/>
                </a:lnSpc>
              </a:pPr>
            </a:p>
          </p:txBody>
        </p:sp>
      </p:grpSp>
      <p:sp>
        <p:nvSpPr>
          <p:cNvPr name="TextBox 23" id="23"/>
          <p:cNvSpPr txBox="true"/>
          <p:nvPr/>
        </p:nvSpPr>
        <p:spPr>
          <a:xfrm rot="0">
            <a:off x="8974381" y="7041794"/>
            <a:ext cx="923458" cy="629517"/>
          </a:xfrm>
          <a:prstGeom prst="rect">
            <a:avLst/>
          </a:prstGeom>
        </p:spPr>
        <p:txBody>
          <a:bodyPr anchor="t" rtlCol="false" tIns="0" lIns="0" bIns="0" rIns="0">
            <a:spAutoFit/>
          </a:bodyPr>
          <a:lstStyle/>
          <a:p>
            <a:pPr algn="ctr">
              <a:lnSpc>
                <a:spcPts val="4761"/>
              </a:lnSpc>
            </a:pPr>
            <a:r>
              <a:rPr lang="en-US" b="true" sz="4761">
                <a:solidFill>
                  <a:srgbClr val="FFFFFF"/>
                </a:solidFill>
                <a:latin typeface="Montserrat Ultra-Bold"/>
                <a:ea typeface="Montserrat Ultra-Bold"/>
                <a:cs typeface="Montserrat Ultra-Bold"/>
                <a:sym typeface="Montserrat Ultra-Bold"/>
              </a:rPr>
              <a:t>1</a:t>
            </a:r>
          </a:p>
        </p:txBody>
      </p:sp>
      <p:sp>
        <p:nvSpPr>
          <p:cNvPr name="TextBox 24" id="24"/>
          <p:cNvSpPr txBox="true"/>
          <p:nvPr/>
        </p:nvSpPr>
        <p:spPr>
          <a:xfrm rot="0">
            <a:off x="8392828" y="7652261"/>
            <a:ext cx="2086564" cy="1323955"/>
          </a:xfrm>
          <a:prstGeom prst="rect">
            <a:avLst/>
          </a:prstGeom>
        </p:spPr>
        <p:txBody>
          <a:bodyPr anchor="t" rtlCol="false" tIns="0" lIns="0" bIns="0" rIns="0">
            <a:spAutoFit/>
          </a:bodyPr>
          <a:lstStyle/>
          <a:p>
            <a:pPr algn="ctr">
              <a:lnSpc>
                <a:spcPts val="1766"/>
              </a:lnSpc>
            </a:pPr>
            <a:r>
              <a:rPr sz="1261">
                <a:solidFill>
                  <a:srgbClr val="FFFFFF"/>
                </a:solidFill>
                <a:latin typeface="Montserrat"/>
              </a:rPr>
              <a:t>Pages are plain HTML, CSS, and JavaScript. Same sidebar everywhere, with cards, tables, and confirmation messages.</a:t>
            </a:r>
          </a:p>
        </p:txBody>
      </p:sp>
      <p:sp>
        <p:nvSpPr>
          <p:cNvPr name="TextBox 25" id="25"/>
          <p:cNvSpPr txBox="true"/>
          <p:nvPr/>
        </p:nvSpPr>
        <p:spPr>
          <a:xfrm rot="0">
            <a:off x="15764299" y="741861"/>
            <a:ext cx="1473411" cy="776618"/>
          </a:xfrm>
          <a:prstGeom prst="rect">
            <a:avLst/>
          </a:prstGeom>
        </p:spPr>
        <p:txBody>
          <a:bodyPr anchor="t" rtlCol="false" tIns="0" lIns="0" bIns="0" rIns="0">
            <a:spAutoFit/>
          </a:bodyPr>
          <a:lstStyle/>
          <a:p>
            <a:pPr algn="ctr">
              <a:lnSpc>
                <a:spcPts val="5826"/>
              </a:lnSpc>
            </a:pPr>
            <a:r>
              <a:rPr lang="en-US" b="true" sz="5826">
                <a:solidFill>
                  <a:srgbClr val="16A34A"/>
                </a:solidFill>
                <a:latin typeface="Montserrat Bold"/>
                <a:ea typeface="Montserrat Bold"/>
                <a:cs typeface="Montserrat Bold"/>
                <a:sym typeface="Montserrat Bold"/>
              </a:rPr>
              <a:t>03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txBody>
          <a:bodyPr/>
          <a:p/>
        </p:txBody>
      </p:sp>
      <p:sp>
        <p:nvSpPr>
          <p:cNvPr name="Freeform 3" id="3"/>
          <p:cNvSpPr/>
          <p:nvPr/>
        </p:nvSpPr>
        <p:spPr>
          <a:xfrm flipH="false" flipV="false" rot="0">
            <a:off x="1028700" y="1028700"/>
            <a:ext cx="6043342" cy="8229600"/>
          </a:xfrm>
          <a:custGeom>
            <a:avLst/>
            <a:gdLst/>
            <a:ahLst/>
            <a:cxnLst/>
            <a:rect r="r" b="b" t="t" l="l"/>
            <a:pathLst>
              <a:path h="8229600" w="6043342">
                <a:moveTo>
                  <a:pt x="0" y="0"/>
                </a:moveTo>
                <a:lnTo>
                  <a:pt x="6043342" y="0"/>
                </a:lnTo>
                <a:lnTo>
                  <a:pt x="6043342" y="8229600"/>
                </a:lnTo>
                <a:lnTo>
                  <a:pt x="0" y="8229600"/>
                </a:lnTo>
                <a:lnTo>
                  <a:pt x="0" y="0"/>
                </a:lnTo>
                <a:close/>
              </a:path>
            </a:pathLst>
          </a:custGeom>
          <a:blipFill>
            <a:blip r:embed="rId3"/>
            <a:stretch>
              <a:fillRect l="-52774" t="0" r="-52774" b="0"/>
            </a:stretch>
          </a:blipFill>
        </p:spPr>
        <p:txBody>
          <a:bodyPr/>
          <a:p/>
        </p:txBody>
      </p:sp>
      <p:sp>
        <p:nvSpPr>
          <p:cNvPr name="TextBox 4" id="4"/>
          <p:cNvSpPr txBox="true"/>
          <p:nvPr/>
        </p:nvSpPr>
        <p:spPr>
          <a:xfrm rot="0">
            <a:off x="8061659" y="4766149"/>
            <a:ext cx="9172951" cy="1445004"/>
          </a:xfrm>
          <a:prstGeom prst="rect">
            <a:avLst/>
          </a:prstGeom>
        </p:spPr>
        <p:txBody>
          <a:bodyPr anchor="t" rtlCol="false" tIns="0" lIns="0" bIns="0" rIns="0">
            <a:spAutoFit/>
          </a:bodyPr>
          <a:lstStyle/>
          <a:p>
            <a:pPr algn="just">
              <a:lnSpc>
                <a:spcPts val="3827"/>
              </a:lnSpc>
            </a:pPr>
            <a:r>
              <a:rPr sz="2733">
                <a:solidFill>
                  <a:srgbClr val="14532D"/>
                </a:solidFill>
                <a:latin typeface="Montserrat"/>
              </a:rPr>
              <a:t>These are the parts staff use every day. Each one searches, filters, checks entries, and saves to the database.</a:t>
            </a:r>
          </a:p>
        </p:txBody>
      </p:sp>
      <p:sp>
        <p:nvSpPr>
          <p:cNvPr name="TextBox 5" id="5"/>
          <p:cNvSpPr txBox="true"/>
          <p:nvPr/>
        </p:nvSpPr>
        <p:spPr>
          <a:xfrm rot="0">
            <a:off x="8061659" y="2154016"/>
            <a:ext cx="9197641" cy="1119633"/>
          </a:xfrm>
          <a:prstGeom prst="rect">
            <a:avLst/>
          </a:prstGeom>
        </p:spPr>
        <p:txBody>
          <a:bodyPr anchor="t" rtlCol="false" tIns="0" lIns="0" bIns="0" rIns="0">
            <a:spAutoFit/>
          </a:bodyPr>
          <a:lstStyle/>
          <a:p>
            <a:pPr algn="l">
              <a:lnSpc>
                <a:spcPts val="8456"/>
              </a:lnSpc>
            </a:pPr>
            <a:r>
              <a:rPr lang="en-US" sz="8456" b="true">
                <a:solidFill>
                  <a:srgbClr val="14532D"/>
                </a:solidFill>
                <a:latin typeface="Montserrat Ultra-Bold"/>
                <a:ea typeface="Montserrat Ultra-Bold"/>
                <a:cs typeface="Montserrat Ultra-Bold"/>
                <a:sym typeface="Montserrat Ultra-Bold"/>
              </a:rPr>
              <a:t>MOD</a:t>
            </a:r>
            <a:r>
              <a:rPr lang="en-US" b="true" sz="8456">
                <a:solidFill>
                  <a:srgbClr val="14532D"/>
                </a:solidFill>
                <a:latin typeface="Montserrat Ultra-Bold"/>
                <a:ea typeface="Montserrat Ultra-Bold"/>
                <a:cs typeface="Montserrat Ultra-Bold"/>
                <a:sym typeface="Montserrat Ultra-Bold"/>
              </a:rPr>
              <a:t>ULES</a:t>
            </a:r>
          </a:p>
        </p:txBody>
      </p:sp>
      <p:grpSp>
        <p:nvGrpSpPr>
          <p:cNvPr name="Group 6" id="6"/>
          <p:cNvGrpSpPr/>
          <p:nvPr/>
        </p:nvGrpSpPr>
        <p:grpSpPr>
          <a:xfrm rot="0">
            <a:off x="8061659" y="3411268"/>
            <a:ext cx="9172951" cy="1231494"/>
            <a:chOff x="0" y="0"/>
            <a:chExt cx="2275912" cy="305547"/>
          </a:xfrm>
        </p:grpSpPr>
        <p:sp>
          <p:nvSpPr>
            <p:cNvPr name="Freeform 7" id="7"/>
            <p:cNvSpPr/>
            <p:nvPr/>
          </p:nvSpPr>
          <p:spPr>
            <a:xfrm flipH="false" flipV="false" rot="0">
              <a:off x="0" y="0"/>
              <a:ext cx="2275912" cy="305547"/>
            </a:xfrm>
            <a:custGeom>
              <a:avLst/>
              <a:gdLst/>
              <a:ahLst/>
              <a:cxnLst/>
              <a:rect r="r" b="b" t="t" l="l"/>
              <a:pathLst>
                <a:path h="305547" w="2275912">
                  <a:moveTo>
                    <a:pt x="0" y="0"/>
                  </a:moveTo>
                  <a:lnTo>
                    <a:pt x="2275912" y="0"/>
                  </a:lnTo>
                  <a:lnTo>
                    <a:pt x="2275912" y="305547"/>
                  </a:lnTo>
                  <a:lnTo>
                    <a:pt x="0" y="305547"/>
                  </a:lnTo>
                  <a:close/>
                </a:path>
              </a:pathLst>
            </a:custGeom>
            <a:solidFill>
              <a:srgbClr val="14532D"/>
            </a:solidFill>
          </p:spPr>
          <p:txBody>
            <a:bodyPr/>
            <a:p/>
          </p:txBody>
        </p:sp>
        <p:sp>
          <p:nvSpPr>
            <p:cNvPr name="TextBox 8" id="8"/>
            <p:cNvSpPr txBox="true"/>
            <p:nvPr/>
          </p:nvSpPr>
          <p:spPr>
            <a:xfrm>
              <a:off x="0" y="-38100"/>
              <a:ext cx="2275912" cy="343647"/>
            </a:xfrm>
            <a:prstGeom prst="rect">
              <a:avLst/>
            </a:prstGeom>
          </p:spPr>
          <p:txBody>
            <a:bodyPr anchor="ctr" rtlCol="false" tIns="42129" lIns="42129" bIns="42129" rIns="42129"/>
            <a:lstStyle/>
            <a:p>
              <a:pPr algn="ctr">
                <a:lnSpc>
                  <a:spcPts val="2659"/>
                </a:lnSpc>
              </a:pPr>
            </a:p>
          </p:txBody>
        </p:sp>
      </p:grpSp>
      <p:sp>
        <p:nvSpPr>
          <p:cNvPr name="TextBox 9" id="9"/>
          <p:cNvSpPr txBox="true"/>
          <p:nvPr/>
        </p:nvSpPr>
        <p:spPr>
          <a:xfrm rot="0">
            <a:off x="8061659" y="3663188"/>
            <a:ext cx="9197641" cy="846076"/>
          </a:xfrm>
          <a:prstGeom prst="rect">
            <a:avLst/>
          </a:prstGeom>
        </p:spPr>
        <p:txBody>
          <a:bodyPr anchor="t" rtlCol="false" tIns="0" lIns="0" bIns="0" rIns="0">
            <a:spAutoFit/>
          </a:bodyPr>
          <a:lstStyle/>
          <a:p>
            <a:pPr algn="ctr">
              <a:lnSpc>
                <a:spcPts val="6309"/>
              </a:lnSpc>
            </a:pPr>
            <a:r>
              <a:rPr sz="6309" b="1">
                <a:solidFill>
                  <a:srgbClr val="FFFFFF"/>
                </a:solidFill>
                <a:latin typeface="Montserrat Ultra-Bold"/>
              </a:rPr>
              <a:t>MAIN MODULES</a:t>
            </a:r>
          </a:p>
        </p:txBody>
      </p:sp>
      <p:grpSp>
        <p:nvGrpSpPr>
          <p:cNvPr name="Group 10" id="10"/>
          <p:cNvGrpSpPr/>
          <p:nvPr/>
        </p:nvGrpSpPr>
        <p:grpSpPr>
          <a:xfrm rot="0">
            <a:off x="11284513" y="6664461"/>
            <a:ext cx="2748902" cy="2593839"/>
            <a:chOff x="0" y="0"/>
            <a:chExt cx="682033" cy="643561"/>
          </a:xfrm>
        </p:grpSpPr>
        <p:sp>
          <p:nvSpPr>
            <p:cNvPr name="Freeform 11" id="11"/>
            <p:cNvSpPr/>
            <p:nvPr/>
          </p:nvSpPr>
          <p:spPr>
            <a:xfrm flipH="false" flipV="false" rot="0">
              <a:off x="0" y="0"/>
              <a:ext cx="682033" cy="643561"/>
            </a:xfrm>
            <a:custGeom>
              <a:avLst/>
              <a:gdLst/>
              <a:ahLst/>
              <a:cxnLst/>
              <a:rect r="r" b="b" t="t" l="l"/>
              <a:pathLst>
                <a:path h="643561" w="682033">
                  <a:moveTo>
                    <a:pt x="0" y="0"/>
                  </a:moveTo>
                  <a:lnTo>
                    <a:pt x="682033" y="0"/>
                  </a:lnTo>
                  <a:lnTo>
                    <a:pt x="682033" y="643561"/>
                  </a:lnTo>
                  <a:lnTo>
                    <a:pt x="0" y="643561"/>
                  </a:lnTo>
                  <a:close/>
                </a:path>
              </a:pathLst>
            </a:custGeom>
            <a:solidFill>
              <a:srgbClr val="16A34A"/>
            </a:solidFill>
          </p:spPr>
          <p:txBody>
            <a:bodyPr/>
            <a:p/>
          </p:txBody>
        </p:sp>
        <p:sp>
          <p:nvSpPr>
            <p:cNvPr name="TextBox 12" id="12"/>
            <p:cNvSpPr txBox="true"/>
            <p:nvPr/>
          </p:nvSpPr>
          <p:spPr>
            <a:xfrm>
              <a:off x="0" y="-38100"/>
              <a:ext cx="682033" cy="681661"/>
            </a:xfrm>
            <a:prstGeom prst="rect">
              <a:avLst/>
            </a:prstGeom>
          </p:spPr>
          <p:txBody>
            <a:bodyPr anchor="ctr" rtlCol="false" tIns="42129" lIns="42129" bIns="42129" rIns="42129"/>
            <a:lstStyle/>
            <a:p>
              <a:pPr algn="ctr">
                <a:lnSpc>
                  <a:spcPts val="2659"/>
                </a:lnSpc>
              </a:pPr>
            </a:p>
          </p:txBody>
        </p:sp>
      </p:grpSp>
      <p:sp>
        <p:nvSpPr>
          <p:cNvPr name="TextBox 13" id="13"/>
          <p:cNvSpPr txBox="true"/>
          <p:nvPr/>
        </p:nvSpPr>
        <p:spPr>
          <a:xfrm rot="0">
            <a:off x="12197235" y="7041794"/>
            <a:ext cx="923458" cy="629517"/>
          </a:xfrm>
          <a:prstGeom prst="rect">
            <a:avLst/>
          </a:prstGeom>
        </p:spPr>
        <p:txBody>
          <a:bodyPr anchor="t" rtlCol="false" tIns="0" lIns="0" bIns="0" rIns="0">
            <a:spAutoFit/>
          </a:bodyPr>
          <a:lstStyle/>
          <a:p>
            <a:pPr algn="ctr">
              <a:lnSpc>
                <a:spcPts val="4761"/>
              </a:lnSpc>
            </a:pPr>
            <a:r>
              <a:rPr lang="en-US" b="true" sz="4761">
                <a:solidFill>
                  <a:srgbClr val="FFFFFF"/>
                </a:solidFill>
                <a:latin typeface="Montserrat Ultra-Bold"/>
                <a:ea typeface="Montserrat Ultra-Bold"/>
                <a:cs typeface="Montserrat Ultra-Bold"/>
                <a:sym typeface="Montserrat Ultra-Bold"/>
              </a:rPr>
              <a:t>2</a:t>
            </a:r>
          </a:p>
        </p:txBody>
      </p:sp>
      <p:sp>
        <p:nvSpPr>
          <p:cNvPr name="TextBox 14" id="14"/>
          <p:cNvSpPr txBox="true"/>
          <p:nvPr/>
        </p:nvSpPr>
        <p:spPr>
          <a:xfrm rot="0">
            <a:off x="11615682" y="7652261"/>
            <a:ext cx="2086564" cy="1323955"/>
          </a:xfrm>
          <a:prstGeom prst="rect">
            <a:avLst/>
          </a:prstGeom>
        </p:spPr>
        <p:txBody>
          <a:bodyPr anchor="t" rtlCol="false" tIns="0" lIns="0" bIns="0" rIns="0">
            <a:spAutoFit/>
          </a:bodyPr>
          <a:lstStyle/>
          <a:p>
            <a:pPr algn="ctr">
              <a:lnSpc>
                <a:spcPts val="1766"/>
              </a:lnSpc>
            </a:pPr>
            <a:r>
              <a:rPr sz="1261">
                <a:solidFill>
                  <a:srgbClr val="FFFFFF"/>
                </a:solidFill>
                <a:latin typeface="Montserrat"/>
              </a:rPr>
              <a:t>Attendance and payroll. Time in and out fill hours on their own, then each run moves from draft to processed to paid.</a:t>
            </a:r>
          </a:p>
        </p:txBody>
      </p:sp>
      <p:grpSp>
        <p:nvGrpSpPr>
          <p:cNvPr name="Group 15" id="15"/>
          <p:cNvGrpSpPr/>
          <p:nvPr/>
        </p:nvGrpSpPr>
        <p:grpSpPr>
          <a:xfrm rot="0">
            <a:off x="14510398" y="6664461"/>
            <a:ext cx="2748902" cy="2593839"/>
            <a:chOff x="0" y="0"/>
            <a:chExt cx="682033" cy="643561"/>
          </a:xfrm>
        </p:grpSpPr>
        <p:sp>
          <p:nvSpPr>
            <p:cNvPr name="Freeform 16" id="16"/>
            <p:cNvSpPr/>
            <p:nvPr/>
          </p:nvSpPr>
          <p:spPr>
            <a:xfrm flipH="false" flipV="false" rot="0">
              <a:off x="0" y="0"/>
              <a:ext cx="682033" cy="643561"/>
            </a:xfrm>
            <a:custGeom>
              <a:avLst/>
              <a:gdLst/>
              <a:ahLst/>
              <a:cxnLst/>
              <a:rect r="r" b="b" t="t" l="l"/>
              <a:pathLst>
                <a:path h="643561" w="682033">
                  <a:moveTo>
                    <a:pt x="0" y="0"/>
                  </a:moveTo>
                  <a:lnTo>
                    <a:pt x="682033" y="0"/>
                  </a:lnTo>
                  <a:lnTo>
                    <a:pt x="682033" y="643561"/>
                  </a:lnTo>
                  <a:lnTo>
                    <a:pt x="0" y="643561"/>
                  </a:lnTo>
                  <a:close/>
                </a:path>
              </a:pathLst>
            </a:custGeom>
            <a:solidFill>
              <a:srgbClr val="14532D"/>
            </a:solidFill>
          </p:spPr>
          <p:txBody>
            <a:bodyPr/>
            <a:p/>
          </p:txBody>
        </p:sp>
        <p:sp>
          <p:nvSpPr>
            <p:cNvPr name="TextBox 17" id="17"/>
            <p:cNvSpPr txBox="true"/>
            <p:nvPr/>
          </p:nvSpPr>
          <p:spPr>
            <a:xfrm>
              <a:off x="0" y="-38100"/>
              <a:ext cx="682033" cy="681661"/>
            </a:xfrm>
            <a:prstGeom prst="rect">
              <a:avLst/>
            </a:prstGeom>
          </p:spPr>
          <p:txBody>
            <a:bodyPr anchor="ctr" rtlCol="false" tIns="42129" lIns="42129" bIns="42129" rIns="42129"/>
            <a:lstStyle/>
            <a:p>
              <a:pPr algn="ctr">
                <a:lnSpc>
                  <a:spcPts val="2659"/>
                </a:lnSpc>
              </a:pPr>
            </a:p>
          </p:txBody>
        </p:sp>
      </p:grpSp>
      <p:sp>
        <p:nvSpPr>
          <p:cNvPr name="TextBox 18" id="18"/>
          <p:cNvSpPr txBox="true"/>
          <p:nvPr/>
        </p:nvSpPr>
        <p:spPr>
          <a:xfrm rot="0">
            <a:off x="15423120" y="7041794"/>
            <a:ext cx="923458" cy="629517"/>
          </a:xfrm>
          <a:prstGeom prst="rect">
            <a:avLst/>
          </a:prstGeom>
        </p:spPr>
        <p:txBody>
          <a:bodyPr anchor="t" rtlCol="false" tIns="0" lIns="0" bIns="0" rIns="0">
            <a:spAutoFit/>
          </a:bodyPr>
          <a:lstStyle/>
          <a:p>
            <a:pPr algn="ctr">
              <a:lnSpc>
                <a:spcPts val="4761"/>
              </a:lnSpc>
            </a:pPr>
            <a:r>
              <a:rPr lang="en-US" b="true" sz="4761">
                <a:solidFill>
                  <a:srgbClr val="FFFFFF"/>
                </a:solidFill>
                <a:latin typeface="Montserrat Ultra-Bold"/>
                <a:ea typeface="Montserrat Ultra-Bold"/>
                <a:cs typeface="Montserrat Ultra-Bold"/>
                <a:sym typeface="Montserrat Ultra-Bold"/>
              </a:rPr>
              <a:t>3</a:t>
            </a:r>
          </a:p>
        </p:txBody>
      </p:sp>
      <p:sp>
        <p:nvSpPr>
          <p:cNvPr name="TextBox 19" id="19"/>
          <p:cNvSpPr txBox="true"/>
          <p:nvPr/>
        </p:nvSpPr>
        <p:spPr>
          <a:xfrm rot="0">
            <a:off x="14841567" y="7652261"/>
            <a:ext cx="2086564" cy="1323955"/>
          </a:xfrm>
          <a:prstGeom prst="rect">
            <a:avLst/>
          </a:prstGeom>
        </p:spPr>
        <p:txBody>
          <a:bodyPr anchor="t" rtlCol="false" tIns="0" lIns="0" bIns="0" rIns="0">
            <a:spAutoFit/>
          </a:bodyPr>
          <a:lstStyle/>
          <a:p>
            <a:pPr algn="ctr">
              <a:lnSpc>
                <a:spcPts val="1766"/>
              </a:lnSpc>
            </a:pPr>
            <a:r>
              <a:rPr sz="1261">
                <a:solidFill>
                  <a:srgbClr val="FFFFFF"/>
                </a:solidFill>
                <a:latin typeface="Montserrat"/>
              </a:rPr>
              <a:t>Deductions, reports, users, and settings. SSS, PhilHealth, Pag-IBIG, tax and loans, six reports, roles, and company setup.</a:t>
            </a:r>
          </a:p>
        </p:txBody>
      </p:sp>
      <p:grpSp>
        <p:nvGrpSpPr>
          <p:cNvPr name="Group 20" id="20"/>
          <p:cNvGrpSpPr/>
          <p:nvPr/>
        </p:nvGrpSpPr>
        <p:grpSpPr>
          <a:xfrm rot="0">
            <a:off x="8061659" y="6664461"/>
            <a:ext cx="2748902" cy="2593839"/>
            <a:chOff x="0" y="0"/>
            <a:chExt cx="682033" cy="643561"/>
          </a:xfrm>
        </p:grpSpPr>
        <p:sp>
          <p:nvSpPr>
            <p:cNvPr name="Freeform 21" id="21"/>
            <p:cNvSpPr/>
            <p:nvPr/>
          </p:nvSpPr>
          <p:spPr>
            <a:xfrm flipH="false" flipV="false" rot="0">
              <a:off x="0" y="0"/>
              <a:ext cx="682033" cy="643561"/>
            </a:xfrm>
            <a:custGeom>
              <a:avLst/>
              <a:gdLst/>
              <a:ahLst/>
              <a:cxnLst/>
              <a:rect r="r" b="b" t="t" l="l"/>
              <a:pathLst>
                <a:path h="643561" w="682033">
                  <a:moveTo>
                    <a:pt x="0" y="0"/>
                  </a:moveTo>
                  <a:lnTo>
                    <a:pt x="682033" y="0"/>
                  </a:lnTo>
                  <a:lnTo>
                    <a:pt x="682033" y="643561"/>
                  </a:lnTo>
                  <a:lnTo>
                    <a:pt x="0" y="643561"/>
                  </a:lnTo>
                  <a:close/>
                </a:path>
              </a:pathLst>
            </a:custGeom>
            <a:solidFill>
              <a:srgbClr val="16A34A"/>
            </a:solidFill>
          </p:spPr>
          <p:txBody>
            <a:bodyPr/>
            <a:p/>
          </p:txBody>
        </p:sp>
        <p:sp>
          <p:nvSpPr>
            <p:cNvPr name="TextBox 22" id="22"/>
            <p:cNvSpPr txBox="true"/>
            <p:nvPr/>
          </p:nvSpPr>
          <p:spPr>
            <a:xfrm>
              <a:off x="0" y="-38100"/>
              <a:ext cx="682033" cy="681661"/>
            </a:xfrm>
            <a:prstGeom prst="rect">
              <a:avLst/>
            </a:prstGeom>
          </p:spPr>
          <p:txBody>
            <a:bodyPr anchor="ctr" rtlCol="false" tIns="42129" lIns="42129" bIns="42129" rIns="42129"/>
            <a:lstStyle/>
            <a:p>
              <a:pPr algn="ctr">
                <a:lnSpc>
                  <a:spcPts val="2659"/>
                </a:lnSpc>
              </a:pPr>
            </a:p>
          </p:txBody>
        </p:sp>
      </p:grpSp>
      <p:sp>
        <p:nvSpPr>
          <p:cNvPr name="TextBox 23" id="23"/>
          <p:cNvSpPr txBox="true"/>
          <p:nvPr/>
        </p:nvSpPr>
        <p:spPr>
          <a:xfrm rot="0">
            <a:off x="8974381" y="7041794"/>
            <a:ext cx="923458" cy="629517"/>
          </a:xfrm>
          <a:prstGeom prst="rect">
            <a:avLst/>
          </a:prstGeom>
        </p:spPr>
        <p:txBody>
          <a:bodyPr anchor="t" rtlCol="false" tIns="0" lIns="0" bIns="0" rIns="0">
            <a:spAutoFit/>
          </a:bodyPr>
          <a:lstStyle/>
          <a:p>
            <a:pPr algn="ctr">
              <a:lnSpc>
                <a:spcPts val="4761"/>
              </a:lnSpc>
            </a:pPr>
            <a:r>
              <a:rPr lang="en-US" b="true" sz="4761">
                <a:solidFill>
                  <a:srgbClr val="FFFFFF"/>
                </a:solidFill>
                <a:latin typeface="Montserrat Ultra-Bold"/>
                <a:ea typeface="Montserrat Ultra-Bold"/>
                <a:cs typeface="Montserrat Ultra-Bold"/>
                <a:sym typeface="Montserrat Ultra-Bold"/>
              </a:rPr>
              <a:t>1</a:t>
            </a:r>
          </a:p>
        </p:txBody>
      </p:sp>
      <p:sp>
        <p:nvSpPr>
          <p:cNvPr name="TextBox 24" id="24"/>
          <p:cNvSpPr txBox="true"/>
          <p:nvPr/>
        </p:nvSpPr>
        <p:spPr>
          <a:xfrm rot="0">
            <a:off x="8392828" y="7652261"/>
            <a:ext cx="2086564" cy="1323955"/>
          </a:xfrm>
          <a:prstGeom prst="rect">
            <a:avLst/>
          </a:prstGeom>
        </p:spPr>
        <p:txBody>
          <a:bodyPr anchor="t" rtlCol="false" tIns="0" lIns="0" bIns="0" rIns="0">
            <a:spAutoFit/>
          </a:bodyPr>
          <a:lstStyle/>
          <a:p>
            <a:pPr algn="ctr">
              <a:lnSpc>
                <a:spcPts val="1766"/>
              </a:lnSpc>
            </a:pPr>
            <a:r>
              <a:rPr sz="1261">
                <a:solidFill>
                  <a:srgbClr val="FFFFFF"/>
                </a:solidFill>
                <a:latin typeface="Montserrat"/>
              </a:rPr>
              <a:t>Employees, departments, and positions. Add and edit staff, group them right, and view full profiles with history.</a:t>
            </a:r>
          </a:p>
        </p:txBody>
      </p:sp>
      <p:sp>
        <p:nvSpPr>
          <p:cNvPr name="TextBox 25" id="25"/>
          <p:cNvSpPr txBox="true"/>
          <p:nvPr/>
        </p:nvSpPr>
        <p:spPr>
          <a:xfrm rot="0">
            <a:off x="15764299" y="741861"/>
            <a:ext cx="1473411" cy="776618"/>
          </a:xfrm>
          <a:prstGeom prst="rect">
            <a:avLst/>
          </a:prstGeom>
        </p:spPr>
        <p:txBody>
          <a:bodyPr anchor="t" rtlCol="false" tIns="0" lIns="0" bIns="0" rIns="0">
            <a:spAutoFit/>
          </a:bodyPr>
          <a:lstStyle/>
          <a:p>
            <a:pPr algn="ctr">
              <a:lnSpc>
                <a:spcPts val="5826"/>
              </a:lnSpc>
            </a:pPr>
            <a:r>
              <a:rPr lang="en-US" b="true" sz="5826">
                <a:solidFill>
                  <a:srgbClr val="16A34A"/>
                </a:solidFill>
                <a:latin typeface="Montserrat Bold"/>
                <a:ea typeface="Montserrat Bold"/>
                <a:cs typeface="Montserrat Bold"/>
                <a:sym typeface="Montserrat Bold"/>
              </a:rPr>
              <a:t>04</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txBody>
          <a:bodyPr/>
          <a:p/>
        </p:txBody>
      </p:sp>
      <p:sp>
        <p:nvSpPr>
          <p:cNvPr name="TextBox 3" id="3"/>
          <p:cNvSpPr txBox="true"/>
          <p:nvPr/>
        </p:nvSpPr>
        <p:spPr>
          <a:xfrm rot="0">
            <a:off x="4773314" y="1181100"/>
            <a:ext cx="8741372" cy="1068862"/>
          </a:xfrm>
          <a:prstGeom prst="rect">
            <a:avLst/>
          </a:prstGeom>
        </p:spPr>
        <p:txBody>
          <a:bodyPr anchor="t" rtlCol="false" tIns="0" lIns="0" bIns="0" rIns="0">
            <a:spAutoFit/>
          </a:bodyPr>
          <a:lstStyle/>
          <a:p>
            <a:pPr algn="ctr">
              <a:lnSpc>
                <a:spcPts val="8058"/>
              </a:lnSpc>
            </a:pPr>
            <a:r>
              <a:rPr lang="en-US" b="true" sz="8058">
                <a:solidFill>
                  <a:srgbClr val="14532D"/>
                </a:solidFill>
                <a:latin typeface="Montserrat Ultra-Bold"/>
                <a:ea typeface="Montserrat Ultra-Bold"/>
                <a:cs typeface="Montserrat Ultra-Bold"/>
                <a:sym typeface="Montserrat Ultra-Bold"/>
              </a:rPr>
              <a:t>FEA</a:t>
            </a:r>
            <a:r>
              <a:rPr lang="en-US" b="true" sz="8058">
                <a:solidFill>
                  <a:srgbClr val="14532D"/>
                </a:solidFill>
                <a:latin typeface="Montserrat Ultra-Bold"/>
                <a:ea typeface="Montserrat Ultra-Bold"/>
                <a:cs typeface="Montserrat Ultra-Bold"/>
                <a:sym typeface="Montserrat Ultra-Bold"/>
              </a:rPr>
              <a:t>TURES</a:t>
            </a:r>
          </a:p>
        </p:txBody>
      </p:sp>
      <p:sp>
        <p:nvSpPr>
          <p:cNvPr name="TextBox 4" id="4"/>
          <p:cNvSpPr txBox="true"/>
          <p:nvPr/>
        </p:nvSpPr>
        <p:spPr>
          <a:xfrm rot="0">
            <a:off x="1314820" y="2846673"/>
            <a:ext cx="904367" cy="901976"/>
          </a:xfrm>
          <a:prstGeom prst="rect">
            <a:avLst/>
          </a:prstGeom>
        </p:spPr>
        <p:txBody>
          <a:bodyPr anchor="t" rtlCol="false" tIns="0" lIns="0" bIns="0" rIns="0">
            <a:spAutoFit/>
          </a:bodyPr>
          <a:lstStyle/>
          <a:p>
            <a:pPr algn="ctr">
              <a:lnSpc>
                <a:spcPts val="6768"/>
              </a:lnSpc>
            </a:pPr>
            <a:r>
              <a:rPr lang="en-US" b="true" sz="6768">
                <a:solidFill>
                  <a:srgbClr val="14532D"/>
                </a:solidFill>
                <a:latin typeface="Montserrat Ultra-Bold"/>
                <a:ea typeface="Montserrat Ultra-Bold"/>
                <a:cs typeface="Montserrat Ultra-Bold"/>
                <a:sym typeface="Montserrat Ultra-Bold"/>
              </a:rPr>
              <a:t>1.</a:t>
            </a:r>
          </a:p>
        </p:txBody>
      </p:sp>
      <p:sp>
        <p:nvSpPr>
          <p:cNvPr name="TextBox 5" id="5"/>
          <p:cNvSpPr txBox="true"/>
          <p:nvPr/>
        </p:nvSpPr>
        <p:spPr>
          <a:xfrm rot="0">
            <a:off x="2431965" y="2687905"/>
            <a:ext cx="6351413" cy="1898762"/>
          </a:xfrm>
          <a:prstGeom prst="rect">
            <a:avLst/>
          </a:prstGeom>
        </p:spPr>
        <p:txBody>
          <a:bodyPr anchor="t" rtlCol="false" tIns="0" lIns="0" bIns="0" rIns="0">
            <a:spAutoFit/>
          </a:bodyPr>
          <a:lstStyle/>
          <a:p>
            <a:pPr algn="just">
              <a:lnSpc>
                <a:spcPts val="3025"/>
              </a:lnSpc>
            </a:pPr>
            <a:r>
              <a:rPr sz="2161">
                <a:solidFill>
                  <a:srgbClr val="14532D"/>
                </a:solidFill>
                <a:latin typeface="Montserrat"/>
              </a:rPr>
              <a:t>Dashboard that answers questions. Staff totals, this month's payroll, charts, and the newest payments at a glance.</a:t>
            </a:r>
          </a:p>
        </p:txBody>
      </p:sp>
      <p:sp>
        <p:nvSpPr>
          <p:cNvPr name="TextBox 6" id="6"/>
          <p:cNvSpPr txBox="true"/>
          <p:nvPr/>
        </p:nvSpPr>
        <p:spPr>
          <a:xfrm rot="0">
            <a:off x="9552247" y="2846673"/>
            <a:ext cx="904367" cy="901976"/>
          </a:xfrm>
          <a:prstGeom prst="rect">
            <a:avLst/>
          </a:prstGeom>
        </p:spPr>
        <p:txBody>
          <a:bodyPr anchor="t" rtlCol="false" tIns="0" lIns="0" bIns="0" rIns="0">
            <a:spAutoFit/>
          </a:bodyPr>
          <a:lstStyle/>
          <a:p>
            <a:pPr algn="ctr">
              <a:lnSpc>
                <a:spcPts val="6768"/>
              </a:lnSpc>
            </a:pPr>
            <a:r>
              <a:rPr lang="en-US" b="true" sz="6768">
                <a:solidFill>
                  <a:srgbClr val="14532D"/>
                </a:solidFill>
                <a:latin typeface="Montserrat Ultra-Bold"/>
                <a:ea typeface="Montserrat Ultra-Bold"/>
                <a:cs typeface="Montserrat Ultra-Bold"/>
                <a:sym typeface="Montserrat Ultra-Bold"/>
              </a:rPr>
              <a:t>2.</a:t>
            </a:r>
          </a:p>
        </p:txBody>
      </p:sp>
      <p:sp>
        <p:nvSpPr>
          <p:cNvPr name="TextBox 7" id="7"/>
          <p:cNvSpPr txBox="true"/>
          <p:nvPr/>
        </p:nvSpPr>
        <p:spPr>
          <a:xfrm rot="0">
            <a:off x="10669392" y="2687905"/>
            <a:ext cx="6351413" cy="1898762"/>
          </a:xfrm>
          <a:prstGeom prst="rect">
            <a:avLst/>
          </a:prstGeom>
        </p:spPr>
        <p:txBody>
          <a:bodyPr anchor="t" rtlCol="false" tIns="0" lIns="0" bIns="0" rIns="0">
            <a:spAutoFit/>
          </a:bodyPr>
          <a:lstStyle/>
          <a:p>
            <a:pPr algn="just">
              <a:lnSpc>
                <a:spcPts val="3025"/>
              </a:lnSpc>
            </a:pPr>
            <a:r>
              <a:rPr sz="2161">
                <a:solidFill>
                  <a:srgbClr val="14532D"/>
                </a:solidFill>
                <a:latin typeface="Montserrat"/>
              </a:rPr>
              <a:t>Payroll that locks when done. Drafts can change, processed and paid runs cannot, and reopening is recorded.</a:t>
            </a:r>
          </a:p>
        </p:txBody>
      </p:sp>
      <p:sp>
        <p:nvSpPr>
          <p:cNvPr name="TextBox 8" id="8"/>
          <p:cNvSpPr txBox="true"/>
          <p:nvPr/>
        </p:nvSpPr>
        <p:spPr>
          <a:xfrm rot="0">
            <a:off x="1314820" y="5182489"/>
            <a:ext cx="904367" cy="901976"/>
          </a:xfrm>
          <a:prstGeom prst="rect">
            <a:avLst/>
          </a:prstGeom>
        </p:spPr>
        <p:txBody>
          <a:bodyPr anchor="t" rtlCol="false" tIns="0" lIns="0" bIns="0" rIns="0">
            <a:spAutoFit/>
          </a:bodyPr>
          <a:lstStyle/>
          <a:p>
            <a:pPr algn="ctr">
              <a:lnSpc>
                <a:spcPts val="6768"/>
              </a:lnSpc>
            </a:pPr>
            <a:r>
              <a:rPr lang="en-US" b="true" sz="6768">
                <a:solidFill>
                  <a:srgbClr val="14532D"/>
                </a:solidFill>
                <a:latin typeface="Montserrat Ultra-Bold"/>
                <a:ea typeface="Montserrat Ultra-Bold"/>
                <a:cs typeface="Montserrat Ultra-Bold"/>
                <a:sym typeface="Montserrat Ultra-Bold"/>
              </a:rPr>
              <a:t>3.</a:t>
            </a:r>
          </a:p>
        </p:txBody>
      </p:sp>
      <p:sp>
        <p:nvSpPr>
          <p:cNvPr name="TextBox 9" id="9"/>
          <p:cNvSpPr txBox="true"/>
          <p:nvPr/>
        </p:nvSpPr>
        <p:spPr>
          <a:xfrm rot="0">
            <a:off x="2431965" y="5023722"/>
            <a:ext cx="6351413" cy="1898762"/>
          </a:xfrm>
          <a:prstGeom prst="rect">
            <a:avLst/>
          </a:prstGeom>
        </p:spPr>
        <p:txBody>
          <a:bodyPr anchor="t" rtlCol="false" tIns="0" lIns="0" bIns="0" rIns="0">
            <a:spAutoFit/>
          </a:bodyPr>
          <a:lstStyle/>
          <a:p>
            <a:pPr algn="just">
              <a:lnSpc>
                <a:spcPts val="3025"/>
              </a:lnSpc>
            </a:pPr>
            <a:r>
              <a:rPr sz="2161">
                <a:solidFill>
                  <a:srgbClr val="14532D"/>
                </a:solidFill>
                <a:latin typeface="Montserrat"/>
              </a:rPr>
              <a:t>Roles that hold up. Admin, manager, and employee see only what they should, checked on the server.</a:t>
            </a:r>
          </a:p>
        </p:txBody>
      </p:sp>
      <p:sp>
        <p:nvSpPr>
          <p:cNvPr name="TextBox 10" id="10"/>
          <p:cNvSpPr txBox="true"/>
          <p:nvPr/>
        </p:nvSpPr>
        <p:spPr>
          <a:xfrm rot="0">
            <a:off x="9552247" y="5182489"/>
            <a:ext cx="904367" cy="901976"/>
          </a:xfrm>
          <a:prstGeom prst="rect">
            <a:avLst/>
          </a:prstGeom>
        </p:spPr>
        <p:txBody>
          <a:bodyPr anchor="t" rtlCol="false" tIns="0" lIns="0" bIns="0" rIns="0">
            <a:spAutoFit/>
          </a:bodyPr>
          <a:lstStyle/>
          <a:p>
            <a:pPr algn="ctr">
              <a:lnSpc>
                <a:spcPts val="6768"/>
              </a:lnSpc>
            </a:pPr>
            <a:r>
              <a:rPr lang="en-US" b="true" sz="6768">
                <a:solidFill>
                  <a:srgbClr val="14532D"/>
                </a:solidFill>
                <a:latin typeface="Montserrat Ultra-Bold"/>
                <a:ea typeface="Montserrat Ultra-Bold"/>
                <a:cs typeface="Montserrat Ultra-Bold"/>
                <a:sym typeface="Montserrat Ultra-Bold"/>
              </a:rPr>
              <a:t>4.</a:t>
            </a:r>
          </a:p>
        </p:txBody>
      </p:sp>
      <p:sp>
        <p:nvSpPr>
          <p:cNvPr name="TextBox 11" id="11"/>
          <p:cNvSpPr txBox="true"/>
          <p:nvPr/>
        </p:nvSpPr>
        <p:spPr>
          <a:xfrm rot="0">
            <a:off x="10669392" y="5023722"/>
            <a:ext cx="6351413" cy="1898762"/>
          </a:xfrm>
          <a:prstGeom prst="rect">
            <a:avLst/>
          </a:prstGeom>
        </p:spPr>
        <p:txBody>
          <a:bodyPr anchor="t" rtlCol="false" tIns="0" lIns="0" bIns="0" rIns="0">
            <a:spAutoFit/>
          </a:bodyPr>
          <a:lstStyle/>
          <a:p>
            <a:pPr algn="just">
              <a:lnSpc>
                <a:spcPts val="3025"/>
              </a:lnSpc>
            </a:pPr>
            <a:r>
              <a:rPr sz="2161">
                <a:solidFill>
                  <a:srgbClr val="14532D"/>
                </a:solidFill>
                <a:latin typeface="Montserrat"/>
              </a:rPr>
              <a:t>Entries that get checked. Negative pay, duplicate codes, and repeat payroll periods are refused politely.</a:t>
            </a:r>
          </a:p>
        </p:txBody>
      </p:sp>
      <p:sp>
        <p:nvSpPr>
          <p:cNvPr name="TextBox 12" id="12"/>
          <p:cNvSpPr txBox="true"/>
          <p:nvPr/>
        </p:nvSpPr>
        <p:spPr>
          <a:xfrm rot="0">
            <a:off x="1314820" y="7518305"/>
            <a:ext cx="904367" cy="901976"/>
          </a:xfrm>
          <a:prstGeom prst="rect">
            <a:avLst/>
          </a:prstGeom>
        </p:spPr>
        <p:txBody>
          <a:bodyPr anchor="t" rtlCol="false" tIns="0" lIns="0" bIns="0" rIns="0">
            <a:spAutoFit/>
          </a:bodyPr>
          <a:lstStyle/>
          <a:p>
            <a:pPr algn="ctr">
              <a:lnSpc>
                <a:spcPts val="6768"/>
              </a:lnSpc>
            </a:pPr>
            <a:r>
              <a:rPr lang="en-US" b="true" sz="6768">
                <a:solidFill>
                  <a:srgbClr val="14532D"/>
                </a:solidFill>
                <a:latin typeface="Montserrat Ultra-Bold"/>
                <a:ea typeface="Montserrat Ultra-Bold"/>
                <a:cs typeface="Montserrat Ultra-Bold"/>
                <a:sym typeface="Montserrat Ultra-Bold"/>
              </a:rPr>
              <a:t>5.</a:t>
            </a:r>
          </a:p>
        </p:txBody>
      </p:sp>
      <p:sp>
        <p:nvSpPr>
          <p:cNvPr name="TextBox 13" id="13"/>
          <p:cNvSpPr txBox="true"/>
          <p:nvPr/>
        </p:nvSpPr>
        <p:spPr>
          <a:xfrm rot="0">
            <a:off x="2431965" y="7359538"/>
            <a:ext cx="6351413" cy="1898762"/>
          </a:xfrm>
          <a:prstGeom prst="rect">
            <a:avLst/>
          </a:prstGeom>
        </p:spPr>
        <p:txBody>
          <a:bodyPr anchor="t" rtlCol="false" tIns="0" lIns="0" bIns="0" rIns="0">
            <a:spAutoFit/>
          </a:bodyPr>
          <a:lstStyle/>
          <a:p>
            <a:pPr algn="just">
              <a:lnSpc>
                <a:spcPts val="3025"/>
              </a:lnSpc>
            </a:pPr>
            <a:r>
              <a:rPr sz="2161">
                <a:solidFill>
                  <a:srgbClr val="14532D"/>
                </a:solidFill>
                <a:latin typeface="Montserrat"/>
              </a:rPr>
              <a:t>Payslips ready to print. Earnings and deductions laid out cleanly on an A4 page.</a:t>
            </a:r>
          </a:p>
        </p:txBody>
      </p:sp>
      <p:sp>
        <p:nvSpPr>
          <p:cNvPr name="TextBox 14" id="14"/>
          <p:cNvSpPr txBox="true"/>
          <p:nvPr/>
        </p:nvSpPr>
        <p:spPr>
          <a:xfrm rot="0">
            <a:off x="9552247" y="7518305"/>
            <a:ext cx="904367" cy="901976"/>
          </a:xfrm>
          <a:prstGeom prst="rect">
            <a:avLst/>
          </a:prstGeom>
        </p:spPr>
        <p:txBody>
          <a:bodyPr anchor="t" rtlCol="false" tIns="0" lIns="0" bIns="0" rIns="0">
            <a:spAutoFit/>
          </a:bodyPr>
          <a:lstStyle/>
          <a:p>
            <a:pPr algn="ctr">
              <a:lnSpc>
                <a:spcPts val="6768"/>
              </a:lnSpc>
            </a:pPr>
            <a:r>
              <a:rPr lang="en-US" b="true" sz="6768">
                <a:solidFill>
                  <a:srgbClr val="14532D"/>
                </a:solidFill>
                <a:latin typeface="Montserrat Ultra-Bold"/>
                <a:ea typeface="Montserrat Ultra-Bold"/>
                <a:cs typeface="Montserrat Ultra-Bold"/>
                <a:sym typeface="Montserrat Ultra-Bold"/>
              </a:rPr>
              <a:t>6.</a:t>
            </a:r>
          </a:p>
        </p:txBody>
      </p:sp>
      <p:sp>
        <p:nvSpPr>
          <p:cNvPr name="TextBox 15" id="15"/>
          <p:cNvSpPr txBox="true"/>
          <p:nvPr/>
        </p:nvSpPr>
        <p:spPr>
          <a:xfrm rot="0">
            <a:off x="10669392" y="7359538"/>
            <a:ext cx="6351413" cy="1898762"/>
          </a:xfrm>
          <a:prstGeom prst="rect">
            <a:avLst/>
          </a:prstGeom>
        </p:spPr>
        <p:txBody>
          <a:bodyPr anchor="t" rtlCol="false" tIns="0" lIns="0" bIns="0" rIns="0">
            <a:spAutoFit/>
          </a:bodyPr>
          <a:lstStyle/>
          <a:p>
            <a:pPr algn="just">
              <a:lnSpc>
                <a:spcPts val="3025"/>
              </a:lnSpc>
            </a:pPr>
            <a:r>
              <a:rPr sz="2161">
                <a:solidFill>
                  <a:srgbClr val="14532D"/>
                </a:solidFill>
                <a:latin typeface="Montserrat"/>
              </a:rPr>
              <a:t>Reports from live data. Filter by date or department, then print or export to CSV.</a:t>
            </a:r>
          </a:p>
        </p:txBody>
      </p:sp>
      <p:sp>
        <p:nvSpPr>
          <p:cNvPr name="TextBox 16" id="16"/>
          <p:cNvSpPr txBox="true"/>
          <p:nvPr/>
        </p:nvSpPr>
        <p:spPr>
          <a:xfrm rot="0">
            <a:off x="15764299" y="741861"/>
            <a:ext cx="1473411" cy="776618"/>
          </a:xfrm>
          <a:prstGeom prst="rect">
            <a:avLst/>
          </a:prstGeom>
        </p:spPr>
        <p:txBody>
          <a:bodyPr anchor="t" rtlCol="false" tIns="0" lIns="0" bIns="0" rIns="0">
            <a:spAutoFit/>
          </a:bodyPr>
          <a:lstStyle/>
          <a:p>
            <a:pPr algn="ctr">
              <a:lnSpc>
                <a:spcPts val="5826"/>
              </a:lnSpc>
            </a:pPr>
            <a:r>
              <a:rPr lang="en-US" b="true" sz="5826">
                <a:solidFill>
                  <a:srgbClr val="16A34A"/>
                </a:solidFill>
                <a:latin typeface="Montserrat Bold"/>
                <a:ea typeface="Montserrat Bold"/>
                <a:cs typeface="Montserrat Bold"/>
                <a:sym typeface="Montserrat Bold"/>
              </a:rPr>
              <a:t>05</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txBody>
          <a:bodyPr/>
          <a:p/>
        </p:txBody>
      </p:sp>
      <p:sp>
        <p:nvSpPr>
          <p:cNvPr name="TextBox 3" id="3"/>
          <p:cNvSpPr txBox="true"/>
          <p:nvPr/>
        </p:nvSpPr>
        <p:spPr>
          <a:xfrm rot="0">
            <a:off x="4773314" y="1181100"/>
            <a:ext cx="8741372" cy="1068862"/>
          </a:xfrm>
          <a:prstGeom prst="rect">
            <a:avLst/>
          </a:prstGeom>
        </p:spPr>
        <p:txBody>
          <a:bodyPr anchor="t" rtlCol="false" tIns="0" lIns="0" bIns="0" rIns="0">
            <a:spAutoFit/>
          </a:bodyPr>
          <a:lstStyle/>
          <a:p>
            <a:pPr algn="ctr">
              <a:lnSpc>
                <a:spcPts val="8058"/>
              </a:lnSpc>
            </a:pPr>
            <a:r>
              <a:rPr lang="en-US" b="true" sz="8058">
                <a:solidFill>
                  <a:srgbClr val="14532D"/>
                </a:solidFill>
                <a:latin typeface="Montserrat Ultra-Bold"/>
                <a:ea typeface="Montserrat Ultra-Bold"/>
                <a:cs typeface="Montserrat Ultra-Bold"/>
                <a:sym typeface="Montserrat Ultra-Bold"/>
              </a:rPr>
              <a:t>PAY</a:t>
            </a:r>
            <a:r>
              <a:rPr lang="en-US" b="true" sz="8058">
                <a:solidFill>
                  <a:srgbClr val="14532D"/>
                </a:solidFill>
                <a:latin typeface="Montserrat Ultra-Bold"/>
                <a:ea typeface="Montserrat Ultra-Bold"/>
                <a:cs typeface="Montserrat Ultra-Bold"/>
                <a:sym typeface="Montserrat Ultra-Bold"/>
              </a:rPr>
              <a:t>ROLL</a:t>
            </a:r>
          </a:p>
        </p:txBody>
      </p:sp>
      <p:sp>
        <p:nvSpPr>
          <p:cNvPr name="TextBox 4" id="4"/>
          <p:cNvSpPr txBox="true"/>
          <p:nvPr/>
        </p:nvSpPr>
        <p:spPr>
          <a:xfrm rot="0">
            <a:off x="1028700" y="2675223"/>
            <a:ext cx="16230600" cy="2174811"/>
          </a:xfrm>
          <a:prstGeom prst="rect">
            <a:avLst/>
          </a:prstGeom>
        </p:spPr>
        <p:txBody>
          <a:bodyPr anchor="t" rtlCol="false" tIns="0" lIns="0" bIns="0" rIns="0">
            <a:spAutoFit/>
          </a:bodyPr>
          <a:lstStyle/>
          <a:p>
            <a:pPr algn="just">
              <a:lnSpc>
                <a:spcPts val="3500"/>
              </a:lnSpc>
            </a:pPr>
            <a:r>
              <a:rPr sz="2500">
                <a:solidFill>
                  <a:srgbClr val="14532D"/>
                </a:solidFill>
                <a:latin typeface="Montserrat"/>
              </a:rPr>
              <a:t>Attendance feeds the hours, deductions for the period pull in on their own, and the server works out gross and net. Nothing is final until someone reviews and confirms it.</a:t>
            </a:r>
          </a:p>
        </p:txBody>
      </p:sp>
      <p:sp>
        <p:nvSpPr>
          <p:cNvPr name="Freeform 5" id="5"/>
          <p:cNvSpPr/>
          <p:nvPr/>
        </p:nvSpPr>
        <p:spPr>
          <a:xfrm flipH="false" flipV="false" rot="0">
            <a:off x="1028700" y="6853144"/>
            <a:ext cx="16230600" cy="2405156"/>
          </a:xfrm>
          <a:custGeom>
            <a:avLst/>
            <a:gdLst/>
            <a:ahLst/>
            <a:cxnLst/>
            <a:rect r="r" b="b" t="t" l="l"/>
            <a:pathLst>
              <a:path h="2405156" w="16230600">
                <a:moveTo>
                  <a:pt x="0" y="0"/>
                </a:moveTo>
                <a:lnTo>
                  <a:pt x="16230600" y="0"/>
                </a:lnTo>
                <a:lnTo>
                  <a:pt x="16230600" y="2405156"/>
                </a:lnTo>
                <a:lnTo>
                  <a:pt x="0" y="2405156"/>
                </a:lnTo>
                <a:lnTo>
                  <a:pt x="0" y="0"/>
                </a:lnTo>
                <a:close/>
              </a:path>
            </a:pathLst>
          </a:custGeom>
          <a:blipFill>
            <a:blip r:embed="rId3"/>
            <a:stretch>
              <a:fillRect l="0" t="-182867" r="0" b="-167424"/>
            </a:stretch>
          </a:blipFill>
        </p:spPr>
        <p:txBody>
          <a:bodyPr/>
          <a:p/>
        </p:txBody>
      </p:sp>
      <p:grpSp>
        <p:nvGrpSpPr>
          <p:cNvPr name="Group 6" id="6"/>
          <p:cNvGrpSpPr/>
          <p:nvPr/>
        </p:nvGrpSpPr>
        <p:grpSpPr>
          <a:xfrm rot="0">
            <a:off x="1028700" y="5143500"/>
            <a:ext cx="5410200" cy="2101888"/>
            <a:chOff x="0" y="0"/>
            <a:chExt cx="1378861" cy="535694"/>
          </a:xfrm>
        </p:grpSpPr>
        <p:sp>
          <p:nvSpPr>
            <p:cNvPr name="Freeform 7" id="7"/>
            <p:cNvSpPr/>
            <p:nvPr/>
          </p:nvSpPr>
          <p:spPr>
            <a:xfrm flipH="false" flipV="false" rot="0">
              <a:off x="0" y="0"/>
              <a:ext cx="1378861" cy="535694"/>
            </a:xfrm>
            <a:custGeom>
              <a:avLst/>
              <a:gdLst/>
              <a:ahLst/>
              <a:cxnLst/>
              <a:rect r="r" b="b" t="t" l="l"/>
              <a:pathLst>
                <a:path h="535694" w="1378861">
                  <a:moveTo>
                    <a:pt x="0" y="0"/>
                  </a:moveTo>
                  <a:lnTo>
                    <a:pt x="1378861" y="0"/>
                  </a:lnTo>
                  <a:lnTo>
                    <a:pt x="1378861" y="535694"/>
                  </a:lnTo>
                  <a:lnTo>
                    <a:pt x="0" y="535694"/>
                  </a:lnTo>
                  <a:close/>
                </a:path>
              </a:pathLst>
            </a:custGeom>
            <a:solidFill>
              <a:srgbClr val="16A34A"/>
            </a:solidFill>
          </p:spPr>
          <p:txBody>
            <a:bodyPr/>
            <a:p/>
          </p:txBody>
        </p:sp>
        <p:sp>
          <p:nvSpPr>
            <p:cNvPr name="TextBox 8" id="8"/>
            <p:cNvSpPr txBox="true"/>
            <p:nvPr/>
          </p:nvSpPr>
          <p:spPr>
            <a:xfrm>
              <a:off x="0" y="-38100"/>
              <a:ext cx="1378861" cy="573794"/>
            </a:xfrm>
            <a:prstGeom prst="rect">
              <a:avLst/>
            </a:prstGeom>
          </p:spPr>
          <p:txBody>
            <a:bodyPr anchor="ctr" rtlCol="false" tIns="42129" lIns="42129" bIns="42129" rIns="42129"/>
            <a:lstStyle/>
            <a:p>
              <a:pPr algn="ctr">
                <a:lnSpc>
                  <a:spcPts val="2659"/>
                </a:lnSpc>
              </a:pPr>
            </a:p>
          </p:txBody>
        </p:sp>
      </p:grpSp>
      <p:grpSp>
        <p:nvGrpSpPr>
          <p:cNvPr name="Group 9" id="9"/>
          <p:cNvGrpSpPr/>
          <p:nvPr/>
        </p:nvGrpSpPr>
        <p:grpSpPr>
          <a:xfrm rot="0">
            <a:off x="6438900" y="5143500"/>
            <a:ext cx="5410200" cy="2101888"/>
            <a:chOff x="0" y="0"/>
            <a:chExt cx="1378861" cy="535694"/>
          </a:xfrm>
        </p:grpSpPr>
        <p:sp>
          <p:nvSpPr>
            <p:cNvPr name="Freeform 10" id="10"/>
            <p:cNvSpPr/>
            <p:nvPr/>
          </p:nvSpPr>
          <p:spPr>
            <a:xfrm flipH="false" flipV="false" rot="0">
              <a:off x="0" y="0"/>
              <a:ext cx="1378861" cy="535694"/>
            </a:xfrm>
            <a:custGeom>
              <a:avLst/>
              <a:gdLst/>
              <a:ahLst/>
              <a:cxnLst/>
              <a:rect r="r" b="b" t="t" l="l"/>
              <a:pathLst>
                <a:path h="535694" w="1378861">
                  <a:moveTo>
                    <a:pt x="0" y="0"/>
                  </a:moveTo>
                  <a:lnTo>
                    <a:pt x="1378861" y="0"/>
                  </a:lnTo>
                  <a:lnTo>
                    <a:pt x="1378861" y="535694"/>
                  </a:lnTo>
                  <a:lnTo>
                    <a:pt x="0" y="535694"/>
                  </a:lnTo>
                  <a:close/>
                </a:path>
              </a:pathLst>
            </a:custGeom>
            <a:solidFill>
              <a:srgbClr val="16A34A"/>
            </a:solidFill>
          </p:spPr>
          <p:txBody>
            <a:bodyPr/>
            <a:p/>
          </p:txBody>
        </p:sp>
        <p:sp>
          <p:nvSpPr>
            <p:cNvPr name="TextBox 11" id="11"/>
            <p:cNvSpPr txBox="true"/>
            <p:nvPr/>
          </p:nvSpPr>
          <p:spPr>
            <a:xfrm>
              <a:off x="0" y="-38100"/>
              <a:ext cx="1378861" cy="573794"/>
            </a:xfrm>
            <a:prstGeom prst="rect">
              <a:avLst/>
            </a:prstGeom>
          </p:spPr>
          <p:txBody>
            <a:bodyPr anchor="ctr" rtlCol="false" tIns="42129" lIns="42129" bIns="42129" rIns="42129"/>
            <a:lstStyle/>
            <a:p>
              <a:pPr algn="ctr">
                <a:lnSpc>
                  <a:spcPts val="2659"/>
                </a:lnSpc>
              </a:pPr>
            </a:p>
          </p:txBody>
        </p:sp>
      </p:grpSp>
      <p:grpSp>
        <p:nvGrpSpPr>
          <p:cNvPr name="Group 12" id="12"/>
          <p:cNvGrpSpPr/>
          <p:nvPr/>
        </p:nvGrpSpPr>
        <p:grpSpPr>
          <a:xfrm rot="0">
            <a:off x="11849100" y="5143500"/>
            <a:ext cx="5410200" cy="2101888"/>
            <a:chOff x="0" y="0"/>
            <a:chExt cx="1378861" cy="535694"/>
          </a:xfrm>
        </p:grpSpPr>
        <p:sp>
          <p:nvSpPr>
            <p:cNvPr name="Freeform 13" id="13"/>
            <p:cNvSpPr/>
            <p:nvPr/>
          </p:nvSpPr>
          <p:spPr>
            <a:xfrm flipH="false" flipV="false" rot="0">
              <a:off x="0" y="0"/>
              <a:ext cx="1378861" cy="535694"/>
            </a:xfrm>
            <a:custGeom>
              <a:avLst/>
              <a:gdLst/>
              <a:ahLst/>
              <a:cxnLst/>
              <a:rect r="r" b="b" t="t" l="l"/>
              <a:pathLst>
                <a:path h="535694" w="1378861">
                  <a:moveTo>
                    <a:pt x="0" y="0"/>
                  </a:moveTo>
                  <a:lnTo>
                    <a:pt x="1378861" y="0"/>
                  </a:lnTo>
                  <a:lnTo>
                    <a:pt x="1378861" y="535694"/>
                  </a:lnTo>
                  <a:lnTo>
                    <a:pt x="0" y="535694"/>
                  </a:lnTo>
                  <a:close/>
                </a:path>
              </a:pathLst>
            </a:custGeom>
            <a:solidFill>
              <a:srgbClr val="14532D"/>
            </a:solidFill>
          </p:spPr>
          <p:txBody>
            <a:bodyPr/>
            <a:p/>
          </p:txBody>
        </p:sp>
        <p:sp>
          <p:nvSpPr>
            <p:cNvPr name="TextBox 14" id="14"/>
            <p:cNvSpPr txBox="true"/>
            <p:nvPr/>
          </p:nvSpPr>
          <p:spPr>
            <a:xfrm>
              <a:off x="0" y="-38100"/>
              <a:ext cx="1378861" cy="573794"/>
            </a:xfrm>
            <a:prstGeom prst="rect">
              <a:avLst/>
            </a:prstGeom>
          </p:spPr>
          <p:txBody>
            <a:bodyPr anchor="ctr" rtlCol="false" tIns="42129" lIns="42129" bIns="42129" rIns="42129"/>
            <a:lstStyle/>
            <a:p>
              <a:pPr algn="ctr">
                <a:lnSpc>
                  <a:spcPts val="2659"/>
                </a:lnSpc>
              </a:pPr>
            </a:p>
          </p:txBody>
        </p:sp>
      </p:grpSp>
      <p:grpSp>
        <p:nvGrpSpPr>
          <p:cNvPr name="Group 15" id="15"/>
          <p:cNvGrpSpPr/>
          <p:nvPr/>
        </p:nvGrpSpPr>
        <p:grpSpPr>
          <a:xfrm rot="0">
            <a:off x="2028062" y="5470504"/>
            <a:ext cx="3411476" cy="1447880"/>
            <a:chOff x="0" y="0"/>
            <a:chExt cx="4548635" cy="1930507"/>
          </a:xfrm>
        </p:grpSpPr>
        <p:sp>
          <p:nvSpPr>
            <p:cNvPr name="TextBox 16" id="16"/>
            <p:cNvSpPr txBox="true"/>
            <p:nvPr/>
          </p:nvSpPr>
          <p:spPr>
            <a:xfrm rot="0">
              <a:off x="0" y="180975"/>
              <a:ext cx="1766549" cy="1749532"/>
            </a:xfrm>
            <a:prstGeom prst="rect">
              <a:avLst/>
            </a:prstGeom>
          </p:spPr>
          <p:txBody>
            <a:bodyPr anchor="t" rtlCol="false" tIns="0" lIns="0" bIns="0" rIns="0">
              <a:spAutoFit/>
            </a:bodyPr>
            <a:lstStyle/>
            <a:p>
              <a:pPr algn="ctr">
                <a:lnSpc>
                  <a:spcPts val="9512"/>
                </a:lnSpc>
              </a:pPr>
              <a:r>
                <a:rPr lang="en-US" b="true" sz="9512">
                  <a:solidFill>
                    <a:srgbClr val="FFFFFF"/>
                  </a:solidFill>
                  <a:latin typeface="Montserrat Ultra-Bold"/>
                  <a:ea typeface="Montserrat Ultra-Bold"/>
                  <a:cs typeface="Montserrat Ultra-Bold"/>
                  <a:sym typeface="Montserrat Ultra-Bold"/>
                </a:rPr>
                <a:t>1</a:t>
              </a:r>
            </a:p>
          </p:txBody>
        </p:sp>
        <p:sp>
          <p:nvSpPr>
            <p:cNvPr name="TextBox 17" id="17"/>
            <p:cNvSpPr txBox="true"/>
            <p:nvPr/>
          </p:nvSpPr>
          <p:spPr>
            <a:xfrm rot="0">
              <a:off x="1766549" y="76266"/>
              <a:ext cx="2782085" cy="1729120"/>
            </a:xfrm>
            <a:prstGeom prst="rect">
              <a:avLst/>
            </a:prstGeom>
          </p:spPr>
          <p:txBody>
            <a:bodyPr anchor="t" rtlCol="false" tIns="0" lIns="0" bIns="0" rIns="0">
              <a:spAutoFit/>
            </a:bodyPr>
            <a:lstStyle/>
            <a:p>
              <a:pPr algn="l">
                <a:lnSpc>
                  <a:spcPts val="1766"/>
                </a:lnSpc>
              </a:pPr>
              <a:r>
                <a:rPr sz="1261">
                  <a:solidFill>
                    <a:srgbClr val="FFFFFF"/>
                  </a:solidFill>
                  <a:latin typeface="Montserrat"/>
                </a:rPr>
                <a:t>Record. Time in and out set the regular, overtime, and late hours for each day.</a:t>
              </a:r>
            </a:p>
          </p:txBody>
        </p:sp>
      </p:grpSp>
      <p:sp>
        <p:nvSpPr>
          <p:cNvPr name="TextBox 18" id="18"/>
          <p:cNvSpPr txBox="true"/>
          <p:nvPr/>
        </p:nvSpPr>
        <p:spPr>
          <a:xfrm rot="0">
            <a:off x="7438262" y="5651479"/>
            <a:ext cx="1324912" cy="1266905"/>
          </a:xfrm>
          <a:prstGeom prst="rect">
            <a:avLst/>
          </a:prstGeom>
        </p:spPr>
        <p:txBody>
          <a:bodyPr anchor="t" rtlCol="false" tIns="0" lIns="0" bIns="0" rIns="0">
            <a:spAutoFit/>
          </a:bodyPr>
          <a:lstStyle/>
          <a:p>
            <a:pPr algn="ctr">
              <a:lnSpc>
                <a:spcPts val="9512"/>
              </a:lnSpc>
            </a:pPr>
            <a:r>
              <a:rPr sz="9512" b="1">
                <a:solidFill>
                  <a:srgbClr val="FFFFFF"/>
                </a:solidFill>
                <a:latin typeface="Montserrat Ultra-Bold"/>
              </a:rPr>
              <a:t>2</a:t>
            </a:r>
          </a:p>
        </p:txBody>
      </p:sp>
      <p:sp>
        <p:nvSpPr>
          <p:cNvPr name="TextBox 19" id="19"/>
          <p:cNvSpPr txBox="true"/>
          <p:nvPr/>
        </p:nvSpPr>
        <p:spPr>
          <a:xfrm rot="0">
            <a:off x="8763174" y="5522941"/>
            <a:ext cx="2086564" cy="1301603"/>
          </a:xfrm>
          <a:prstGeom prst="rect">
            <a:avLst/>
          </a:prstGeom>
        </p:spPr>
        <p:txBody>
          <a:bodyPr anchor="t" rtlCol="false" tIns="0" lIns="0" bIns="0" rIns="0">
            <a:spAutoFit/>
          </a:bodyPr>
          <a:lstStyle/>
          <a:p>
            <a:pPr algn="l">
              <a:lnSpc>
                <a:spcPts val="1766"/>
              </a:lnSpc>
            </a:pPr>
            <a:r>
              <a:rPr sz="1261">
                <a:solidFill>
                  <a:srgbClr val="FFFFFF"/>
                </a:solidFill>
                <a:latin typeface="Montserrat"/>
              </a:rPr>
              <a:t>Compute. Overtime is hours times rate, gross adds allowances, net subtracts deductions.</a:t>
            </a:r>
          </a:p>
        </p:txBody>
      </p:sp>
      <p:sp>
        <p:nvSpPr>
          <p:cNvPr name="TextBox 20" id="20"/>
          <p:cNvSpPr txBox="true"/>
          <p:nvPr/>
        </p:nvSpPr>
        <p:spPr>
          <a:xfrm rot="0">
            <a:off x="12848462" y="5651479"/>
            <a:ext cx="1324912" cy="1266905"/>
          </a:xfrm>
          <a:prstGeom prst="rect">
            <a:avLst/>
          </a:prstGeom>
        </p:spPr>
        <p:txBody>
          <a:bodyPr anchor="t" rtlCol="false" tIns="0" lIns="0" bIns="0" rIns="0">
            <a:spAutoFit/>
          </a:bodyPr>
          <a:lstStyle/>
          <a:p>
            <a:pPr algn="ctr">
              <a:lnSpc>
                <a:spcPts val="9512"/>
              </a:lnSpc>
            </a:pPr>
            <a:r>
              <a:rPr sz="9512" b="1">
                <a:solidFill>
                  <a:srgbClr val="FFFFFF"/>
                </a:solidFill>
                <a:latin typeface="Montserrat Ultra-Bold"/>
              </a:rPr>
              <a:t>3</a:t>
            </a:r>
          </a:p>
        </p:txBody>
      </p:sp>
      <p:sp>
        <p:nvSpPr>
          <p:cNvPr name="TextBox 21" id="21"/>
          <p:cNvSpPr txBox="true"/>
          <p:nvPr/>
        </p:nvSpPr>
        <p:spPr>
          <a:xfrm rot="0">
            <a:off x="14173374" y="5522941"/>
            <a:ext cx="2086564" cy="1301603"/>
          </a:xfrm>
          <a:prstGeom prst="rect">
            <a:avLst/>
          </a:prstGeom>
        </p:spPr>
        <p:txBody>
          <a:bodyPr anchor="t" rtlCol="false" tIns="0" lIns="0" bIns="0" rIns="0">
            <a:spAutoFit/>
          </a:bodyPr>
          <a:lstStyle/>
          <a:p>
            <a:pPr algn="l">
              <a:lnSpc>
                <a:spcPts val="1766"/>
              </a:lnSpc>
            </a:pPr>
            <a:r>
              <a:rPr sz="1261">
                <a:solidFill>
                  <a:srgbClr val="FFFFFF"/>
                </a:solidFill>
                <a:latin typeface="Montserrat"/>
              </a:rPr>
              <a:t>Confirm. Review the run, process it, and print the payslip. Paid runs stay locked.</a:t>
            </a:r>
          </a:p>
        </p:txBody>
      </p:sp>
      <p:sp>
        <p:nvSpPr>
          <p:cNvPr name="TextBox 22" id="22"/>
          <p:cNvSpPr txBox="true"/>
          <p:nvPr/>
        </p:nvSpPr>
        <p:spPr>
          <a:xfrm rot="0">
            <a:off x="15764299" y="741861"/>
            <a:ext cx="1473411" cy="776618"/>
          </a:xfrm>
          <a:prstGeom prst="rect">
            <a:avLst/>
          </a:prstGeom>
        </p:spPr>
        <p:txBody>
          <a:bodyPr anchor="t" rtlCol="false" tIns="0" lIns="0" bIns="0" rIns="0">
            <a:spAutoFit/>
          </a:bodyPr>
          <a:lstStyle/>
          <a:p>
            <a:pPr algn="ctr">
              <a:lnSpc>
                <a:spcPts val="5826"/>
              </a:lnSpc>
            </a:pPr>
            <a:r>
              <a:rPr lang="en-US" b="true" sz="5826">
                <a:solidFill>
                  <a:srgbClr val="16A34A"/>
                </a:solidFill>
                <a:latin typeface="Montserrat Bold"/>
                <a:ea typeface="Montserrat Bold"/>
                <a:cs typeface="Montserrat Bold"/>
                <a:sym typeface="Montserrat Bold"/>
              </a:rPr>
              <a:t>06</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txBody>
          <a:bodyPr/>
          <a:p/>
        </p:txBody>
      </p:sp>
      <p:pic>
        <p:nvPicPr>
          <p:cNvPr id="7" name="Picture 6" descr="dashboard.png"/>
          <p:cNvPicPr>
            <a:picLocks noChangeAspect="1"/>
          </p:cNvPicPr>
          <p:nvPr/>
        </p:nvPicPr>
        <p:blipFill>
          <a:blip r:embed="rId4"/>
          <a:stretch>
            <a:fillRect/>
          </a:stretch>
        </p:blipFill>
        <p:spPr>
          <a:xfrm>
            <a:off x="4718304" y="4480560"/>
            <a:ext cx="8851392" cy="5532120"/>
          </a:xfrm>
          <a:prstGeom prst="rect">
            <a:avLst/>
          </a:prstGeom>
        </p:spPr>
      </p:pic>
      <p:sp>
        <p:nvSpPr>
          <p:cNvPr name="TextBox 3" id="3"/>
          <p:cNvSpPr txBox="true"/>
          <p:nvPr/>
        </p:nvSpPr>
        <p:spPr>
          <a:xfrm rot="0">
            <a:off x="1034394" y="2718873"/>
            <a:ext cx="11833597" cy="1736674"/>
          </a:xfrm>
          <a:prstGeom prst="rect">
            <a:avLst/>
          </a:prstGeom>
        </p:spPr>
        <p:txBody>
          <a:bodyPr anchor="t" rtlCol="false" tIns="0" lIns="0" bIns="0" rIns="0">
            <a:spAutoFit/>
          </a:bodyPr>
          <a:lstStyle/>
          <a:p>
            <a:pPr algn="just">
              <a:lnSpc>
                <a:spcPts val="3500"/>
              </a:lnSpc>
            </a:pPr>
            <a:r>
              <a:rPr sz="2500">
                <a:solidFill>
                  <a:srgbClr val="14532D"/>
                </a:solidFill>
                <a:latin typeface="Montserrat"/>
              </a:rPr>
              <a:t>This is the dashboard staff open each morning. Four totals on top, a six-month payroll chart, the department mix, and the latest payments below.</a:t>
            </a:r>
          </a:p>
        </p:txBody>
      </p:sp>
      <p:sp>
        <p:nvSpPr>
          <p:cNvPr name="TextBox 4" id="4"/>
          <p:cNvSpPr txBox="true"/>
          <p:nvPr/>
        </p:nvSpPr>
        <p:spPr>
          <a:xfrm rot="0">
            <a:off x="1034394" y="1242180"/>
            <a:ext cx="9156430" cy="1119633"/>
          </a:xfrm>
          <a:prstGeom prst="rect">
            <a:avLst/>
          </a:prstGeom>
        </p:spPr>
        <p:txBody>
          <a:bodyPr anchor="t" rtlCol="false" tIns="0" lIns="0" bIns="0" rIns="0">
            <a:spAutoFit/>
          </a:bodyPr>
          <a:lstStyle/>
          <a:p>
            <a:pPr algn="l">
              <a:lnSpc>
                <a:spcPts val="8456"/>
              </a:lnSpc>
            </a:pPr>
            <a:r>
              <a:rPr lang="en-US" sz="8456" b="true">
                <a:solidFill>
                  <a:srgbClr val="14532D"/>
                </a:solidFill>
                <a:latin typeface="Montserrat Ultra-Bold"/>
                <a:ea typeface="Montserrat Ultra-Bold"/>
                <a:cs typeface="Montserrat Ultra-Bold"/>
                <a:sym typeface="Montserrat Ultra-Bold"/>
              </a:rPr>
              <a:t>LIVE </a:t>
            </a:r>
            <a:r>
              <a:rPr lang="en-US" b="true" sz="8456">
                <a:solidFill>
                  <a:srgbClr val="14532D"/>
                </a:solidFill>
                <a:latin typeface="Montserrat Ultra-Bold"/>
                <a:ea typeface="Montserrat Ultra-Bold"/>
                <a:cs typeface="Montserrat Ultra-Bold"/>
                <a:sym typeface="Montserrat Ultra-Bold"/>
              </a:rPr>
              <a:t>SYSTEM</a:t>
            </a:r>
          </a:p>
        </p:txBody>
      </p:sp>
      <p:sp>
        <p:nvSpPr>
          <p:cNvPr name="TextBox 6" id="6"/>
          <p:cNvSpPr txBox="true"/>
          <p:nvPr/>
        </p:nvSpPr>
        <p:spPr>
          <a:xfrm rot="0">
            <a:off x="15764299" y="741861"/>
            <a:ext cx="1473411" cy="776618"/>
          </a:xfrm>
          <a:prstGeom prst="rect">
            <a:avLst/>
          </a:prstGeom>
        </p:spPr>
        <p:txBody>
          <a:bodyPr anchor="t" rtlCol="false" tIns="0" lIns="0" bIns="0" rIns="0">
            <a:spAutoFit/>
          </a:bodyPr>
          <a:lstStyle/>
          <a:p>
            <a:pPr algn="ctr">
              <a:lnSpc>
                <a:spcPts val="5826"/>
              </a:lnSpc>
            </a:pPr>
            <a:r>
              <a:rPr lang="en-US" b="true" sz="5826">
                <a:solidFill>
                  <a:srgbClr val="16A34A"/>
                </a:solidFill>
                <a:latin typeface="Montserrat Bold"/>
                <a:ea typeface="Montserrat Bold"/>
                <a:cs typeface="Montserrat Bold"/>
                <a:sym typeface="Montserrat Bold"/>
              </a:rPr>
              <a:t>07</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txBody>
          <a:bodyPr/>
          <a:p/>
        </p:txBody>
      </p:sp>
      <p:pic>
        <p:nvPicPr>
          <p:cNvPr id="23" name="Picture 22" descr="payslip.png"/>
          <p:cNvPicPr>
            <a:picLocks noChangeAspect="1"/>
          </p:cNvPicPr>
          <p:nvPr/>
        </p:nvPicPr>
        <p:blipFill>
          <a:blip r:embed="rId5"/>
          <a:stretch>
            <a:fillRect/>
          </a:stretch>
        </p:blipFill>
        <p:spPr>
          <a:xfrm>
            <a:off x="224384" y="4190495"/>
            <a:ext cx="9720125" cy="5804952"/>
          </a:xfrm>
          <a:prstGeom prst="rect">
            <a:avLst/>
          </a:prstGeom>
        </p:spPr>
      </p:pic>
      <p:sp>
        <p:nvSpPr>
          <p:cNvPr name="TextBox 3" id="3"/>
          <p:cNvSpPr txBox="true"/>
          <p:nvPr/>
        </p:nvSpPr>
        <p:spPr>
          <a:xfrm rot="0">
            <a:off x="1034394" y="2718873"/>
            <a:ext cx="8109606" cy="1881582"/>
          </a:xfrm>
          <a:prstGeom prst="rect">
            <a:avLst/>
          </a:prstGeom>
        </p:spPr>
        <p:txBody>
          <a:bodyPr anchor="t" rtlCol="false" tIns="0" lIns="0" bIns="0" rIns="0">
            <a:spAutoFit/>
          </a:bodyPr>
          <a:lstStyle/>
          <a:p>
            <a:pPr algn="just">
              <a:lnSpc>
                <a:spcPts val="3017"/>
              </a:lnSpc>
            </a:pPr>
            <a:r>
              <a:rPr sz="2155">
                <a:solidFill>
                  <a:srgbClr val="14532D"/>
                </a:solidFill>
                <a:latin typeface="Montserrat"/>
              </a:rPr>
              <a:t>Getting it running takes a few minutes: start XAMPP, copy the folder, import one SQL file, and sign in.</a:t>
            </a:r>
          </a:p>
        </p:txBody>
      </p:sp>
      <p:sp>
        <p:nvSpPr>
          <p:cNvPr name="TextBox 4" id="4"/>
          <p:cNvSpPr txBox="true"/>
          <p:nvPr/>
        </p:nvSpPr>
        <p:spPr>
          <a:xfrm rot="0">
            <a:off x="1034394" y="1242180"/>
            <a:ext cx="9156430" cy="1119633"/>
          </a:xfrm>
          <a:prstGeom prst="rect">
            <a:avLst/>
          </a:prstGeom>
        </p:spPr>
        <p:txBody>
          <a:bodyPr anchor="t" rtlCol="false" tIns="0" lIns="0" bIns="0" rIns="0">
            <a:spAutoFit/>
          </a:bodyPr>
          <a:lstStyle/>
          <a:p>
            <a:pPr algn="l">
              <a:lnSpc>
                <a:spcPts val="8456"/>
              </a:lnSpc>
            </a:pPr>
            <a:r>
              <a:rPr lang="en-US" sz="6400" b="true">
                <a:solidFill>
                  <a:srgbClr val="14532D"/>
                </a:solidFill>
                <a:latin typeface="Montserrat Ultra-Bold"/>
                <a:ea typeface="Montserrat Ultra-Bold"/>
                <a:cs typeface="Montserrat Ultra-Bold"/>
                <a:sym typeface="Montserrat Ultra-Bold"/>
              </a:rPr>
              <a:t>SETUP &amp;</a:t>
            </a:r>
            <a:r>
              <a:rPr lang="en-US" b="true" sz="6400">
                <a:solidFill>
                  <a:srgbClr val="14532D"/>
                </a:solidFill>
                <a:latin typeface="Montserrat Ultra-Bold"/>
                <a:ea typeface="Montserrat Ultra-Bold"/>
                <a:cs typeface="Montserrat Ultra-Bold"/>
                <a:sym typeface="Montserrat Ultra-Bold"/>
              </a:rPr>
              <a:t> TESTING</a:t>
            </a:r>
          </a:p>
        </p:txBody>
      </p:sp>
      <p:sp>
        <p:nvSpPr>
          <p:cNvPr name="TextBox 6" id="6"/>
          <p:cNvSpPr txBox="true"/>
          <p:nvPr/>
        </p:nvSpPr>
        <p:spPr>
          <a:xfrm rot="0">
            <a:off x="10749213" y="4562355"/>
            <a:ext cx="6488498" cy="1383006"/>
          </a:xfrm>
          <a:prstGeom prst="rect">
            <a:avLst/>
          </a:prstGeom>
        </p:spPr>
        <p:txBody>
          <a:bodyPr anchor="t" rtlCol="false" tIns="0" lIns="0" bIns="0" rIns="0">
            <a:spAutoFit/>
          </a:bodyPr>
          <a:lstStyle/>
          <a:p>
            <a:pPr algn="just">
              <a:lnSpc>
                <a:spcPts val="2786"/>
              </a:lnSpc>
            </a:pPr>
            <a:r>
              <a:rPr sz="1990">
                <a:solidFill>
                  <a:srgbClr val="14532D"/>
                </a:solidFill>
                <a:latin typeface="Montserrat"/>
              </a:rPr>
              <a:t>Run it. Start Apache and MySQL, import pay_pro_dynamics.sql from phpMyAdmin, then open the login page.</a:t>
            </a:r>
          </a:p>
        </p:txBody>
      </p:sp>
      <p:grpSp>
        <p:nvGrpSpPr>
          <p:cNvPr name="Group 7" id="7"/>
          <p:cNvGrpSpPr/>
          <p:nvPr/>
        </p:nvGrpSpPr>
        <p:grpSpPr>
          <a:xfrm rot="0">
            <a:off x="9844203" y="4600455"/>
            <a:ext cx="640252" cy="571101"/>
            <a:chOff x="0" y="0"/>
            <a:chExt cx="280059" cy="249811"/>
          </a:xfrm>
        </p:grpSpPr>
        <p:sp>
          <p:nvSpPr>
            <p:cNvPr name="Freeform 8" id="8"/>
            <p:cNvSpPr/>
            <p:nvPr/>
          </p:nvSpPr>
          <p:spPr>
            <a:xfrm flipH="false" flipV="false" rot="0">
              <a:off x="0" y="0"/>
              <a:ext cx="280059" cy="249811"/>
            </a:xfrm>
            <a:custGeom>
              <a:avLst/>
              <a:gdLst/>
              <a:ahLst/>
              <a:cxnLst/>
              <a:rect r="r" b="b" t="t" l="l"/>
              <a:pathLst>
                <a:path h="249811" w="280059">
                  <a:moveTo>
                    <a:pt x="0" y="0"/>
                  </a:moveTo>
                  <a:lnTo>
                    <a:pt x="280059" y="0"/>
                  </a:lnTo>
                  <a:lnTo>
                    <a:pt x="280059" y="249811"/>
                  </a:lnTo>
                  <a:lnTo>
                    <a:pt x="0" y="249811"/>
                  </a:lnTo>
                  <a:close/>
                </a:path>
              </a:pathLst>
            </a:custGeom>
            <a:solidFill>
              <a:srgbClr val="14532D"/>
            </a:solidFill>
          </p:spPr>
          <p:txBody>
            <a:bodyPr/>
            <a:p/>
          </p:txBody>
        </p:sp>
        <p:sp>
          <p:nvSpPr>
            <p:cNvPr name="TextBox 9" id="9"/>
            <p:cNvSpPr txBox="true"/>
            <p:nvPr/>
          </p:nvSpPr>
          <p:spPr>
            <a:xfrm>
              <a:off x="0" y="-38100"/>
              <a:ext cx="280059" cy="287911"/>
            </a:xfrm>
            <a:prstGeom prst="rect">
              <a:avLst/>
            </a:prstGeom>
          </p:spPr>
          <p:txBody>
            <a:bodyPr anchor="ctr" rtlCol="false" tIns="25874" lIns="25874" bIns="25874" rIns="25874"/>
            <a:lstStyle/>
            <a:p>
              <a:pPr algn="ctr">
                <a:lnSpc>
                  <a:spcPts val="2659"/>
                </a:lnSpc>
              </a:pPr>
            </a:p>
          </p:txBody>
        </p:sp>
      </p:grpSp>
      <p:sp>
        <p:nvSpPr>
          <p:cNvPr name="TextBox 10" id="10"/>
          <p:cNvSpPr txBox="true"/>
          <p:nvPr/>
        </p:nvSpPr>
        <p:spPr>
          <a:xfrm rot="0">
            <a:off x="9902429" y="4728081"/>
            <a:ext cx="523799" cy="363474"/>
          </a:xfrm>
          <a:prstGeom prst="rect">
            <a:avLst/>
          </a:prstGeom>
        </p:spPr>
        <p:txBody>
          <a:bodyPr anchor="t" rtlCol="false" tIns="0" lIns="0" bIns="0" rIns="0">
            <a:spAutoFit/>
          </a:bodyPr>
          <a:lstStyle/>
          <a:p>
            <a:pPr algn="ctr">
              <a:lnSpc>
                <a:spcPts val="2700"/>
              </a:lnSpc>
            </a:pPr>
            <a:r>
              <a:rPr lang="en-US" b="true" sz="2700">
                <a:solidFill>
                  <a:srgbClr val="FFFFFF"/>
                </a:solidFill>
                <a:latin typeface="Montserrat Ultra-Bold"/>
                <a:ea typeface="Montserrat Ultra-Bold"/>
                <a:cs typeface="Montserrat Ultra-Bold"/>
                <a:sym typeface="Montserrat Ultra-Bold"/>
              </a:rPr>
              <a:t>1</a:t>
            </a:r>
          </a:p>
        </p:txBody>
      </p:sp>
      <p:sp>
        <p:nvSpPr>
          <p:cNvPr name="TextBox 11" id="11"/>
          <p:cNvSpPr txBox="true"/>
          <p:nvPr/>
        </p:nvSpPr>
        <p:spPr>
          <a:xfrm rot="0">
            <a:off x="10754471" y="6173472"/>
            <a:ext cx="6483239" cy="1383006"/>
          </a:xfrm>
          <a:prstGeom prst="rect">
            <a:avLst/>
          </a:prstGeom>
        </p:spPr>
        <p:txBody>
          <a:bodyPr anchor="t" rtlCol="false" tIns="0" lIns="0" bIns="0" rIns="0">
            <a:spAutoFit/>
          </a:bodyPr>
          <a:lstStyle/>
          <a:p>
            <a:pPr algn="just">
              <a:lnSpc>
                <a:spcPts val="2786"/>
              </a:lnSpc>
            </a:pPr>
            <a:r>
              <a:rPr sz="1990">
                <a:solidFill>
                  <a:srgbClr val="14532D"/>
                </a:solidFill>
                <a:latin typeface="Montserrat"/>
              </a:rPr>
              <a:t>Try it. Add an employee, record attendance, create and process payroll, print the payslip, export a report.</a:t>
            </a:r>
          </a:p>
        </p:txBody>
      </p:sp>
      <p:grpSp>
        <p:nvGrpSpPr>
          <p:cNvPr name="Group 12" id="12"/>
          <p:cNvGrpSpPr/>
          <p:nvPr/>
        </p:nvGrpSpPr>
        <p:grpSpPr>
          <a:xfrm rot="0">
            <a:off x="9849462" y="6211572"/>
            <a:ext cx="640252" cy="571101"/>
            <a:chOff x="0" y="0"/>
            <a:chExt cx="280059" cy="249811"/>
          </a:xfrm>
        </p:grpSpPr>
        <p:sp>
          <p:nvSpPr>
            <p:cNvPr name="Freeform 13" id="13"/>
            <p:cNvSpPr/>
            <p:nvPr/>
          </p:nvSpPr>
          <p:spPr>
            <a:xfrm flipH="false" flipV="false" rot="0">
              <a:off x="0" y="0"/>
              <a:ext cx="280059" cy="249811"/>
            </a:xfrm>
            <a:custGeom>
              <a:avLst/>
              <a:gdLst/>
              <a:ahLst/>
              <a:cxnLst/>
              <a:rect r="r" b="b" t="t" l="l"/>
              <a:pathLst>
                <a:path h="249811" w="280059">
                  <a:moveTo>
                    <a:pt x="0" y="0"/>
                  </a:moveTo>
                  <a:lnTo>
                    <a:pt x="280059" y="0"/>
                  </a:lnTo>
                  <a:lnTo>
                    <a:pt x="280059" y="249811"/>
                  </a:lnTo>
                  <a:lnTo>
                    <a:pt x="0" y="249811"/>
                  </a:lnTo>
                  <a:close/>
                </a:path>
              </a:pathLst>
            </a:custGeom>
            <a:solidFill>
              <a:srgbClr val="14532D"/>
            </a:solidFill>
          </p:spPr>
          <p:txBody>
            <a:bodyPr/>
            <a:p/>
          </p:txBody>
        </p:sp>
        <p:sp>
          <p:nvSpPr>
            <p:cNvPr name="TextBox 14" id="14"/>
            <p:cNvSpPr txBox="true"/>
            <p:nvPr/>
          </p:nvSpPr>
          <p:spPr>
            <a:xfrm>
              <a:off x="0" y="-38100"/>
              <a:ext cx="280059" cy="287911"/>
            </a:xfrm>
            <a:prstGeom prst="rect">
              <a:avLst/>
            </a:prstGeom>
          </p:spPr>
          <p:txBody>
            <a:bodyPr anchor="ctr" rtlCol="false" tIns="25874" lIns="25874" bIns="25874" rIns="25874"/>
            <a:lstStyle/>
            <a:p>
              <a:pPr algn="ctr">
                <a:lnSpc>
                  <a:spcPts val="2659"/>
                </a:lnSpc>
              </a:pPr>
            </a:p>
          </p:txBody>
        </p:sp>
      </p:grpSp>
      <p:sp>
        <p:nvSpPr>
          <p:cNvPr name="TextBox 15" id="15"/>
          <p:cNvSpPr txBox="true"/>
          <p:nvPr/>
        </p:nvSpPr>
        <p:spPr>
          <a:xfrm rot="0">
            <a:off x="9907688" y="6339198"/>
            <a:ext cx="523799" cy="363474"/>
          </a:xfrm>
          <a:prstGeom prst="rect">
            <a:avLst/>
          </a:prstGeom>
        </p:spPr>
        <p:txBody>
          <a:bodyPr anchor="t" rtlCol="false" tIns="0" lIns="0" bIns="0" rIns="0">
            <a:spAutoFit/>
          </a:bodyPr>
          <a:lstStyle/>
          <a:p>
            <a:pPr algn="ctr">
              <a:lnSpc>
                <a:spcPts val="2700"/>
              </a:lnSpc>
            </a:pPr>
            <a:r>
              <a:rPr lang="en-US" b="true" sz="2700">
                <a:solidFill>
                  <a:srgbClr val="FFFFFF"/>
                </a:solidFill>
                <a:latin typeface="Montserrat Ultra-Bold"/>
                <a:ea typeface="Montserrat Ultra-Bold"/>
                <a:cs typeface="Montserrat Ultra-Bold"/>
                <a:sym typeface="Montserrat Ultra-Bold"/>
              </a:rPr>
              <a:t>2</a:t>
            </a:r>
          </a:p>
        </p:txBody>
      </p:sp>
      <p:sp>
        <p:nvSpPr>
          <p:cNvPr name="TextBox 16" id="16"/>
          <p:cNvSpPr txBox="true"/>
          <p:nvPr/>
        </p:nvSpPr>
        <p:spPr>
          <a:xfrm rot="0">
            <a:off x="10759730" y="7784588"/>
            <a:ext cx="6477980" cy="1383006"/>
          </a:xfrm>
          <a:prstGeom prst="rect">
            <a:avLst/>
          </a:prstGeom>
        </p:spPr>
        <p:txBody>
          <a:bodyPr anchor="t" rtlCol="false" tIns="0" lIns="0" bIns="0" rIns="0">
            <a:spAutoFit/>
          </a:bodyPr>
          <a:lstStyle/>
          <a:p>
            <a:pPr algn="just">
              <a:lnSpc>
                <a:spcPts val="2786"/>
              </a:lnSpc>
            </a:pPr>
            <a:r>
              <a:rPr sz="1900">
                <a:solidFill>
                  <a:srgbClr val="14532D"/>
                </a:solidFill>
                <a:latin typeface="Calibri"/>
              </a:rPr>
              <a:t>Sign in. Admin, manager, and employee accounts are included so each role can be tested.</a:t>
            </a:r>
          </a:p>
        </p:txBody>
      </p:sp>
      <p:grpSp>
        <p:nvGrpSpPr>
          <p:cNvPr name="Group 17" id="17"/>
          <p:cNvGrpSpPr/>
          <p:nvPr/>
        </p:nvGrpSpPr>
        <p:grpSpPr>
          <a:xfrm rot="0">
            <a:off x="9854720" y="7822688"/>
            <a:ext cx="640252" cy="571101"/>
            <a:chOff x="0" y="0"/>
            <a:chExt cx="280059" cy="249811"/>
          </a:xfrm>
        </p:grpSpPr>
        <p:sp>
          <p:nvSpPr>
            <p:cNvPr name="Freeform 18" id="18"/>
            <p:cNvSpPr/>
            <p:nvPr/>
          </p:nvSpPr>
          <p:spPr>
            <a:xfrm flipH="false" flipV="false" rot="0">
              <a:off x="0" y="0"/>
              <a:ext cx="280059" cy="249811"/>
            </a:xfrm>
            <a:custGeom>
              <a:avLst/>
              <a:gdLst/>
              <a:ahLst/>
              <a:cxnLst/>
              <a:rect r="r" b="b" t="t" l="l"/>
              <a:pathLst>
                <a:path h="249811" w="280059">
                  <a:moveTo>
                    <a:pt x="0" y="0"/>
                  </a:moveTo>
                  <a:lnTo>
                    <a:pt x="280059" y="0"/>
                  </a:lnTo>
                  <a:lnTo>
                    <a:pt x="280059" y="249811"/>
                  </a:lnTo>
                  <a:lnTo>
                    <a:pt x="0" y="249811"/>
                  </a:lnTo>
                  <a:close/>
                </a:path>
              </a:pathLst>
            </a:custGeom>
            <a:solidFill>
              <a:srgbClr val="14532D"/>
            </a:solidFill>
          </p:spPr>
          <p:txBody>
            <a:bodyPr/>
            <a:p/>
          </p:txBody>
        </p:sp>
        <p:sp>
          <p:nvSpPr>
            <p:cNvPr name="TextBox 19" id="19"/>
            <p:cNvSpPr txBox="true"/>
            <p:nvPr/>
          </p:nvSpPr>
          <p:spPr>
            <a:xfrm>
              <a:off x="0" y="-38100"/>
              <a:ext cx="280059" cy="287911"/>
            </a:xfrm>
            <a:prstGeom prst="rect">
              <a:avLst/>
            </a:prstGeom>
          </p:spPr>
          <p:txBody>
            <a:bodyPr anchor="ctr" rtlCol="false" tIns="25874" lIns="25874" bIns="25874" rIns="25874"/>
            <a:lstStyle/>
            <a:p>
              <a:pPr algn="ctr">
                <a:lnSpc>
                  <a:spcPts val="2659"/>
                </a:lnSpc>
              </a:pPr>
            </a:p>
          </p:txBody>
        </p:sp>
      </p:grpSp>
      <p:sp>
        <p:nvSpPr>
          <p:cNvPr name="TextBox 20" id="20"/>
          <p:cNvSpPr txBox="true"/>
          <p:nvPr/>
        </p:nvSpPr>
        <p:spPr>
          <a:xfrm rot="0">
            <a:off x="9912946" y="7950314"/>
            <a:ext cx="523799" cy="363474"/>
          </a:xfrm>
          <a:prstGeom prst="rect">
            <a:avLst/>
          </a:prstGeom>
        </p:spPr>
        <p:txBody>
          <a:bodyPr anchor="t" rtlCol="false" tIns="0" lIns="0" bIns="0" rIns="0">
            <a:spAutoFit/>
          </a:bodyPr>
          <a:lstStyle/>
          <a:p>
            <a:pPr algn="ctr">
              <a:lnSpc>
                <a:spcPts val="2700"/>
              </a:lnSpc>
            </a:pPr>
            <a:r>
              <a:rPr lang="en-US" b="true" sz="2700">
                <a:solidFill>
                  <a:srgbClr val="FFFFFF"/>
                </a:solidFill>
                <a:latin typeface="Montserrat Ultra-Bold"/>
                <a:ea typeface="Montserrat Ultra-Bold"/>
                <a:cs typeface="Montserrat Ultra-Bold"/>
                <a:sym typeface="Montserrat Ultra-Bold"/>
              </a:rPr>
              <a:t>3</a:t>
            </a:r>
          </a:p>
        </p:txBody>
      </p:sp>
      <p:sp>
        <p:nvSpPr>
          <p:cNvPr name="Freeform 21" id="21"/>
          <p:cNvSpPr/>
          <p:nvPr/>
        </p:nvSpPr>
        <p:spPr>
          <a:xfrm flipH="false" flipV="false" rot="0">
            <a:off x="9844203" y="1721034"/>
            <a:ext cx="7394207" cy="2536521"/>
          </a:xfrm>
          <a:custGeom>
            <a:avLst/>
            <a:gdLst/>
            <a:ahLst/>
            <a:cxnLst/>
            <a:rect r="r" b="b" t="t" l="l"/>
            <a:pathLst>
              <a:path h="2536521" w="7394207">
                <a:moveTo>
                  <a:pt x="0" y="0"/>
                </a:moveTo>
                <a:lnTo>
                  <a:pt x="7394207" y="0"/>
                </a:lnTo>
                <a:lnTo>
                  <a:pt x="7394207" y="2536521"/>
                </a:lnTo>
                <a:lnTo>
                  <a:pt x="0" y="2536521"/>
                </a:lnTo>
                <a:lnTo>
                  <a:pt x="0" y="0"/>
                </a:lnTo>
                <a:close/>
              </a:path>
            </a:pathLst>
          </a:custGeom>
          <a:blipFill>
            <a:blip r:embed="rId4"/>
            <a:stretch>
              <a:fillRect l="0" t="-72254" r="0" b="-22327"/>
            </a:stretch>
          </a:blipFill>
        </p:spPr>
        <p:txBody>
          <a:bodyPr/>
          <a:p/>
        </p:txBody>
      </p:sp>
      <p:sp>
        <p:nvSpPr>
          <p:cNvPr name="TextBox 22" id="22"/>
          <p:cNvSpPr txBox="true"/>
          <p:nvPr/>
        </p:nvSpPr>
        <p:spPr>
          <a:xfrm rot="0">
            <a:off x="15764299" y="741861"/>
            <a:ext cx="1473411" cy="776618"/>
          </a:xfrm>
          <a:prstGeom prst="rect">
            <a:avLst/>
          </a:prstGeom>
        </p:spPr>
        <p:txBody>
          <a:bodyPr anchor="t" rtlCol="false" tIns="0" lIns="0" bIns="0" rIns="0">
            <a:spAutoFit/>
          </a:bodyPr>
          <a:lstStyle/>
          <a:p>
            <a:pPr algn="ctr">
              <a:lnSpc>
                <a:spcPts val="5826"/>
              </a:lnSpc>
            </a:pPr>
            <a:r>
              <a:rPr lang="en-US" b="true" sz="5826">
                <a:solidFill>
                  <a:srgbClr val="16A34A"/>
                </a:solidFill>
                <a:latin typeface="Montserrat Bold"/>
                <a:ea typeface="Montserrat Bold"/>
                <a:cs typeface="Montserrat Bold"/>
                <a:sym typeface="Montserrat Bold"/>
              </a:rPr>
              <a:t>08</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txBody>
          <a:bodyPr/>
          <a:p/>
        </p:txBody>
      </p:sp>
      <p:sp>
        <p:nvSpPr>
          <p:cNvPr name="Freeform 3" id="3"/>
          <p:cNvSpPr/>
          <p:nvPr/>
        </p:nvSpPr>
        <p:spPr>
          <a:xfrm flipH="false" flipV="false" rot="0">
            <a:off x="-580528" y="5143500"/>
            <a:ext cx="6374432" cy="5431548"/>
          </a:xfrm>
          <a:custGeom>
            <a:avLst/>
            <a:gdLst/>
            <a:ahLst/>
            <a:cxnLst/>
            <a:rect r="r" b="b" t="t" l="l"/>
            <a:pathLst>
              <a:path h="5431548" w="6374432">
                <a:moveTo>
                  <a:pt x="0" y="0"/>
                </a:moveTo>
                <a:lnTo>
                  <a:pt x="6374432" y="0"/>
                </a:lnTo>
                <a:lnTo>
                  <a:pt x="6374432" y="5431548"/>
                </a:lnTo>
                <a:lnTo>
                  <a:pt x="0" y="54315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Freeform 4" id="4"/>
          <p:cNvSpPr/>
          <p:nvPr/>
        </p:nvSpPr>
        <p:spPr>
          <a:xfrm flipH="true" flipV="true" rot="0">
            <a:off x="12275902" y="-805572"/>
            <a:ext cx="6374432" cy="5431548"/>
          </a:xfrm>
          <a:custGeom>
            <a:avLst/>
            <a:gdLst/>
            <a:ahLst/>
            <a:cxnLst/>
            <a:rect r="r" b="b" t="t" l="l"/>
            <a:pathLst>
              <a:path h="5431548" w="6374432">
                <a:moveTo>
                  <a:pt x="6374432" y="5431548"/>
                </a:moveTo>
                <a:lnTo>
                  <a:pt x="0" y="5431548"/>
                </a:lnTo>
                <a:lnTo>
                  <a:pt x="0" y="0"/>
                </a:lnTo>
                <a:lnTo>
                  <a:pt x="6374432" y="0"/>
                </a:lnTo>
                <a:lnTo>
                  <a:pt x="6374432" y="5431548"/>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Freeform 5" id="5"/>
          <p:cNvSpPr/>
          <p:nvPr/>
        </p:nvSpPr>
        <p:spPr>
          <a:xfrm flipH="true" flipV="true" rot="5400000">
            <a:off x="15923080" y="-1557401"/>
            <a:ext cx="3461576" cy="4114800"/>
          </a:xfrm>
          <a:custGeom>
            <a:avLst/>
            <a:gdLst/>
            <a:ahLst/>
            <a:cxnLst/>
            <a:rect r="r" b="b" t="t" l="l"/>
            <a:pathLst>
              <a:path h="4114800" w="3461576">
                <a:moveTo>
                  <a:pt x="3461576" y="4114800"/>
                </a:moveTo>
                <a:lnTo>
                  <a:pt x="0" y="4114800"/>
                </a:lnTo>
                <a:lnTo>
                  <a:pt x="0" y="0"/>
                </a:lnTo>
                <a:lnTo>
                  <a:pt x="3461576" y="0"/>
                </a:lnTo>
                <a:lnTo>
                  <a:pt x="3461576"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Freeform 6" id="6"/>
          <p:cNvSpPr/>
          <p:nvPr/>
        </p:nvSpPr>
        <p:spPr>
          <a:xfrm flipH="false" flipV="false" rot="5400000">
            <a:off x="-1076725" y="7532662"/>
            <a:ext cx="3461576" cy="4114800"/>
          </a:xfrm>
          <a:custGeom>
            <a:avLst/>
            <a:gdLst/>
            <a:ahLst/>
            <a:cxnLst/>
            <a:rect r="r" b="b" t="t" l="l"/>
            <a:pathLst>
              <a:path h="4114800" w="3461576">
                <a:moveTo>
                  <a:pt x="0" y="0"/>
                </a:moveTo>
                <a:lnTo>
                  <a:pt x="3461576" y="0"/>
                </a:lnTo>
                <a:lnTo>
                  <a:pt x="3461576"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sp>
        <p:nvSpPr>
          <p:cNvPr name="Freeform 7" id="7"/>
          <p:cNvSpPr/>
          <p:nvPr/>
        </p:nvSpPr>
        <p:spPr>
          <a:xfrm flipH="false" flipV="true" rot="0">
            <a:off x="-1939298" y="-147198"/>
            <a:ext cx="5186723" cy="4114800"/>
          </a:xfrm>
          <a:custGeom>
            <a:avLst/>
            <a:gdLst/>
            <a:ahLst/>
            <a:cxnLst/>
            <a:rect r="r" b="b" t="t" l="l"/>
            <a:pathLst>
              <a:path h="4114800" w="5186723">
                <a:moveTo>
                  <a:pt x="0" y="4114800"/>
                </a:moveTo>
                <a:lnTo>
                  <a:pt x="5186722" y="4114800"/>
                </a:lnTo>
                <a:lnTo>
                  <a:pt x="5186722" y="0"/>
                </a:lnTo>
                <a:lnTo>
                  <a:pt x="0" y="0"/>
                </a:lnTo>
                <a:lnTo>
                  <a:pt x="0" y="411480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
        <p:nvSpPr>
          <p:cNvPr name="TextBox 8" id="8"/>
          <p:cNvSpPr txBox="true"/>
          <p:nvPr/>
        </p:nvSpPr>
        <p:spPr>
          <a:xfrm rot="0">
            <a:off x="1786995" y="4435409"/>
            <a:ext cx="14714010" cy="1654307"/>
          </a:xfrm>
          <a:prstGeom prst="rect">
            <a:avLst/>
          </a:prstGeom>
        </p:spPr>
        <p:txBody>
          <a:bodyPr anchor="t" rtlCol="false" tIns="0" lIns="0" bIns="0" rIns="0">
            <a:spAutoFit/>
          </a:bodyPr>
          <a:lstStyle/>
          <a:p>
            <a:pPr algn="ctr">
              <a:lnSpc>
                <a:spcPts val="12417"/>
              </a:lnSpc>
            </a:pPr>
            <a:r>
              <a:rPr lang="en-US" b="true" sz="12417">
                <a:solidFill>
                  <a:srgbClr val="14532D"/>
                </a:solidFill>
                <a:latin typeface="Montserrat Ultra-Bold"/>
                <a:ea typeface="Montserrat Ultra-Bold"/>
                <a:cs typeface="Montserrat Ultra-Bold"/>
                <a:sym typeface="Montserrat Ultra-Bold"/>
              </a:rPr>
              <a:t>THANK YOU</a:t>
            </a:r>
          </a:p>
        </p:txBody>
      </p:sp>
      <p:sp>
        <p:nvSpPr>
          <p:cNvPr name="TextBox 9" id="9"/>
          <p:cNvSpPr txBox="true"/>
          <p:nvPr/>
        </p:nvSpPr>
        <p:spPr>
          <a:xfrm rot="0">
            <a:off x="5368405" y="8597887"/>
            <a:ext cx="7551191" cy="514337"/>
          </a:xfrm>
          <a:prstGeom prst="rect">
            <a:avLst/>
          </a:prstGeom>
        </p:spPr>
        <p:txBody>
          <a:bodyPr anchor="t" rtlCol="false" tIns="0" lIns="0" bIns="0" rIns="0">
            <a:spAutoFit/>
          </a:bodyPr>
          <a:lstStyle/>
          <a:p>
            <a:pPr algn="ctr">
              <a:lnSpc>
                <a:spcPts val="4200"/>
              </a:lnSpc>
            </a:pPr>
            <a:r>
              <a:rPr sz="3000">
                <a:solidFill>
                  <a:srgbClr val="14532D"/>
                </a:solidFill>
                <a:latin typeface="Montserrat"/>
              </a:rPr>
              <a:t>Live demo next. Questions welcome.</a:t>
            </a:r>
          </a:p>
        </p:txBody>
      </p:sp>
      <p:sp>
        <p:nvSpPr>
          <p:cNvPr name="Freeform 10" id="10"/>
          <p:cNvSpPr/>
          <p:nvPr/>
        </p:nvSpPr>
        <p:spPr>
          <a:xfrm flipH="true" flipV="false" rot="0">
            <a:off x="14665939" y="6826231"/>
            <a:ext cx="5186723" cy="4114800"/>
          </a:xfrm>
          <a:custGeom>
            <a:avLst/>
            <a:gdLst/>
            <a:ahLst/>
            <a:cxnLst/>
            <a:rect r="r" b="b" t="t" l="l"/>
            <a:pathLst>
              <a:path h="4114800" w="5186723">
                <a:moveTo>
                  <a:pt x="5186722" y="0"/>
                </a:moveTo>
                <a:lnTo>
                  <a:pt x="0" y="0"/>
                </a:lnTo>
                <a:lnTo>
                  <a:pt x="0" y="4114800"/>
                </a:lnTo>
                <a:lnTo>
                  <a:pt x="5186722" y="4114800"/>
                </a:lnTo>
                <a:lnTo>
                  <a:pt x="5186722" y="0"/>
                </a:lnTo>
                <a:close/>
              </a:path>
            </a:pathLst>
          </a:custGeom>
          <a:blipFill>
            <a:blip r:embed="rId7">
              <a:extLst>
                <a:ext uri="{96DAC541-7B7A-43D3-8B79-37D633B846F1}">
                  <asvg:svgBlip xmlns:asvg="http://schemas.microsoft.com/office/drawing/2016/SVG/main" r:embed="rId8"/>
                </a:ext>
              </a:extLst>
            </a:blip>
            <a:stretch>
              <a:fillRect l="0" t="0" r="0" b="0"/>
            </a:stretch>
          </a:blipFill>
        </p:spPr>
        <p:txBody>
          <a:body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DAHXBvF-vcw</dc:identifier>
  <dcterms:modified xsi:type="dcterms:W3CDTF">2011-08-01T06:04:30Z</dcterms:modified>
  <cp:revision>1</cp:revision>
  <dc:title>Blue Modern Tech Project Presentation</dc:title>
</cp:coreProperties>
</file>